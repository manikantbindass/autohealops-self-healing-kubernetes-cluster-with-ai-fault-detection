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a989d9ab8d409f" /><Relationship Type="http://schemas.openxmlformats.org/officeDocument/2006/relationships/extended-properties" Target="/docProps/app.xml" Id="Rb763010487a549af" /><Relationship Type="http://schemas.openxmlformats.org/officeDocument/2006/relationships/officeDocument" Target="/ppt/presentation.xml" Id="R796f1e686e754152" /></Relationships>
</file>

<file path=ppt/presentation.xml><?xml version="1.0" encoding="utf-8"?>
<p:presentation xmlns:p="http://schemas.openxmlformats.org/presentationml/2006/main">
  <p:sldMasterIdLst>
    <p:sldMasterId xmlns:r="http://schemas.openxmlformats.org/officeDocument/2006/relationships" id="2147483648" r:id="Re2c760a14a0e4839"/>
  </p:sldMasterIdLst>
  <p:notesMasterIdLst>
    <p:notesMasterId xmlns:r="http://schemas.openxmlformats.org/officeDocument/2006/relationships" r:id="Rf7f4992ffac942ef"/>
  </p:notesMasterIdLst>
  <p:sldIdLst>
    <p:sldId xmlns:r="http://schemas.openxmlformats.org/officeDocument/2006/relationships" id="256" r:id="R4a47ab4ece624d47"/>
    <p:sldId xmlns:r="http://schemas.openxmlformats.org/officeDocument/2006/relationships" id="257" r:id="R216e2834861f4a5e"/>
    <p:sldId xmlns:r="http://schemas.openxmlformats.org/officeDocument/2006/relationships" id="258" r:id="R1f44a0eb1ab04d3f"/>
    <p:sldId xmlns:r="http://schemas.openxmlformats.org/officeDocument/2006/relationships" id="259" r:id="R500226bedd6b4c91"/>
    <p:sldId xmlns:r="http://schemas.openxmlformats.org/officeDocument/2006/relationships" id="260" r:id="R5b86b9b6540846f6"/>
    <p:sldId xmlns:r="http://schemas.openxmlformats.org/officeDocument/2006/relationships" id="261" r:id="R05883a21da2548eb"/>
    <p:sldId xmlns:r="http://schemas.openxmlformats.org/officeDocument/2006/relationships" id="262" r:id="R7ec16c300a7545d0"/>
    <p:sldId xmlns:r="http://schemas.openxmlformats.org/officeDocument/2006/relationships" id="263" r:id="Rc0e9a25b92ff4dda"/>
    <p:sldId xmlns:r="http://schemas.openxmlformats.org/officeDocument/2006/relationships" id="264" r:id="Re931ebec369c4504"/>
    <p:sldId xmlns:r="http://schemas.openxmlformats.org/officeDocument/2006/relationships" id="265" r:id="R5cf0472c79aa436e"/>
    <p:sldId xmlns:r="http://schemas.openxmlformats.org/officeDocument/2006/relationships" id="266" r:id="R82382b58dd124cf1"/>
    <p:sldId xmlns:r="http://schemas.openxmlformats.org/officeDocument/2006/relationships" id="267" r:id="R6ed7d82ff53c4e9d"/>
    <p:sldId xmlns:r="http://schemas.openxmlformats.org/officeDocument/2006/relationships" id="268" r:id="R4ccc05c790c14467"/>
    <p:sldId xmlns:r="http://schemas.openxmlformats.org/officeDocument/2006/relationships" id="269" r:id="Ra1049e44749c48b9"/>
    <p:sldId xmlns:r="http://schemas.openxmlformats.org/officeDocument/2006/relationships" id="270" r:id="R35920ec2904e49a5"/>
    <p:sldId xmlns:r="http://schemas.openxmlformats.org/officeDocument/2006/relationships" id="271" r:id="R612be25413834135"/>
    <p:sldId xmlns:r="http://schemas.openxmlformats.org/officeDocument/2006/relationships" id="272" r:id="R32fc5c1f33194854"/>
    <p:sldId xmlns:r="http://schemas.openxmlformats.org/officeDocument/2006/relationships" id="273" r:id="R245ca0f3998349ae"/>
    <p:sldId xmlns:r="http://schemas.openxmlformats.org/officeDocument/2006/relationships" id="274" r:id="R87f0da8166c1456d"/>
    <p:sldId xmlns:r="http://schemas.openxmlformats.org/officeDocument/2006/relationships" id="275" r:id="R97108f16e1c24eef"/>
    <p:sldId xmlns:r="http://schemas.openxmlformats.org/officeDocument/2006/relationships" id="276" r:id="R941d5c526cab4e3c"/>
    <p:sldId xmlns:r="http://schemas.openxmlformats.org/officeDocument/2006/relationships" id="277" r:id="R7d3c303c25bb43a9"/>
    <p:sldId xmlns:r="http://schemas.openxmlformats.org/officeDocument/2006/relationships" id="278" r:id="R0a38e93475b74bdb"/>
    <p:sldId xmlns:r="http://schemas.openxmlformats.org/officeDocument/2006/relationships" id="279" r:id="Rf0d2a3fe1264475f"/>
    <p:sldId xmlns:r="http://schemas.openxmlformats.org/officeDocument/2006/relationships" id="280" r:id="R49da139cdf634a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0010c78e174b23" /><Relationship Type="http://schemas.openxmlformats.org/officeDocument/2006/relationships/slideMaster" Target="/ppt/slideMasters/slideMaster1.xml" Id="Re2c760a14a0e4839" /><Relationship Type="http://schemas.openxmlformats.org/officeDocument/2006/relationships/notesMaster" Target="/ppt/notesMasters/notesMaster1.xml" Id="Rf7f4992ffac942ef" /><Relationship Type="http://schemas.openxmlformats.org/officeDocument/2006/relationships/presProps" Target="/ppt/presProps.xml" Id="Rb1e9e4eadf5f4d88" /><Relationship Type="http://schemas.openxmlformats.org/officeDocument/2006/relationships/tableStyles" Target="/ppt/tableStyles.xml" Id="R666f5def428149bd" /><Relationship Type="http://schemas.openxmlformats.org/officeDocument/2006/relationships/slide" Target="/ppt/slides/slide1.xml" Id="R4a47ab4ece624d47" /><Relationship Type="http://schemas.openxmlformats.org/officeDocument/2006/relationships/slide" Target="/ppt/slides/slide2.xml" Id="R216e2834861f4a5e" /><Relationship Type="http://schemas.openxmlformats.org/officeDocument/2006/relationships/slide" Target="/ppt/slides/slide3.xml" Id="R1f44a0eb1ab04d3f" /><Relationship Type="http://schemas.openxmlformats.org/officeDocument/2006/relationships/slide" Target="/ppt/slides/slide4.xml" Id="R500226bedd6b4c91" /><Relationship Type="http://schemas.openxmlformats.org/officeDocument/2006/relationships/slide" Target="/ppt/slides/slide5.xml" Id="R5b86b9b6540846f6" /><Relationship Type="http://schemas.openxmlformats.org/officeDocument/2006/relationships/slide" Target="/ppt/slides/slide6.xml" Id="R05883a21da2548eb" /><Relationship Type="http://schemas.openxmlformats.org/officeDocument/2006/relationships/slide" Target="/ppt/slides/slide7.xml" Id="R7ec16c300a7545d0" /><Relationship Type="http://schemas.openxmlformats.org/officeDocument/2006/relationships/slide" Target="/ppt/slides/slide8.xml" Id="Rc0e9a25b92ff4dda" /><Relationship Type="http://schemas.openxmlformats.org/officeDocument/2006/relationships/slide" Target="/ppt/slides/slide9.xml" Id="Re931ebec369c4504" /><Relationship Type="http://schemas.openxmlformats.org/officeDocument/2006/relationships/slide" Target="/ppt/slides/slide10.xml" Id="R5cf0472c79aa436e" /><Relationship Type="http://schemas.openxmlformats.org/officeDocument/2006/relationships/slide" Target="/ppt/slides/slide11.xml" Id="R82382b58dd124cf1" /><Relationship Type="http://schemas.openxmlformats.org/officeDocument/2006/relationships/slide" Target="/ppt/slides/slide12.xml" Id="R6ed7d82ff53c4e9d" /><Relationship Type="http://schemas.openxmlformats.org/officeDocument/2006/relationships/slide" Target="/ppt/slides/slide13.xml" Id="R4ccc05c790c14467" /><Relationship Type="http://schemas.openxmlformats.org/officeDocument/2006/relationships/slide" Target="/ppt/slides/slide14.xml" Id="Ra1049e44749c48b9" /><Relationship Type="http://schemas.openxmlformats.org/officeDocument/2006/relationships/slide" Target="/ppt/slides/slide15.xml" Id="R35920ec2904e49a5" /><Relationship Type="http://schemas.openxmlformats.org/officeDocument/2006/relationships/slide" Target="/ppt/slides/slide16.xml" Id="R612be25413834135" /><Relationship Type="http://schemas.openxmlformats.org/officeDocument/2006/relationships/slide" Target="/ppt/slides/slide17.xml" Id="R32fc5c1f33194854" /><Relationship Type="http://schemas.openxmlformats.org/officeDocument/2006/relationships/slide" Target="/ppt/slides/slide18.xml" Id="R245ca0f3998349ae" /><Relationship Type="http://schemas.openxmlformats.org/officeDocument/2006/relationships/slide" Target="/ppt/slides/slide19.xml" Id="R87f0da8166c1456d" /><Relationship Type="http://schemas.openxmlformats.org/officeDocument/2006/relationships/slide" Target="/ppt/slides/slide20.xml" Id="R97108f16e1c24eef" /><Relationship Type="http://schemas.openxmlformats.org/officeDocument/2006/relationships/slide" Target="/ppt/slides/slide21.xml" Id="R941d5c526cab4e3c" /><Relationship Type="http://schemas.openxmlformats.org/officeDocument/2006/relationships/slide" Target="/ppt/slides/slide22.xml" Id="R7d3c303c25bb43a9" /><Relationship Type="http://schemas.openxmlformats.org/officeDocument/2006/relationships/slide" Target="/ppt/slides/slide23.xml" Id="R0a38e93475b74bdb" /><Relationship Type="http://schemas.openxmlformats.org/officeDocument/2006/relationships/slide" Target="/ppt/slides/slide24.xml" Id="Rf0d2a3fe1264475f" /><Relationship Type="http://schemas.openxmlformats.org/officeDocument/2006/relationships/slide" Target="/ppt/slides/slide25.xml" Id="R49da139cdf634a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46c8e4d4aa44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87fcbe8cf9418a" /><Relationship Type="http://schemas.openxmlformats.org/officeDocument/2006/relationships/notesMaster" Target="/ppt/notesMasters/notesMaster1.xml" Id="R6d41ac2b656446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0393b85bec417d" /><Relationship Type="http://schemas.openxmlformats.org/officeDocument/2006/relationships/notesMaster" Target="/ppt/notesMasters/notesMaster1.xml" Id="R28378f795379442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e80633611245b2" /><Relationship Type="http://schemas.openxmlformats.org/officeDocument/2006/relationships/notesMaster" Target="/ppt/notesMasters/notesMaster1.xml" Id="Rb200ab51bcfd47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72946d03714733" /><Relationship Type="http://schemas.openxmlformats.org/officeDocument/2006/relationships/notesMaster" Target="/ppt/notesMasters/notesMaster1.xml" Id="Rf37c1c8e466840b0" /></Relationships>
</file>

<file path=ppt/notesSlides/_rels/notesSlide5.xml.rels>&#65279;<?xml version="1.0" encoding="utf-8"?><Relationships xmlns="http://schemas.openxmlformats.org/package/2006/relationships"><Relationship Type="http://schemas.openxmlformats.org/officeDocument/2006/relationships/slide" Target="/ppt/slides/slide5.xml" Id="R4460b402ceb142e6" /><Relationship Type="http://schemas.openxmlformats.org/officeDocument/2006/relationships/notesMaster" Target="/ppt/notesMasters/notesMaster1.xml" Id="Rc029013789d942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f988de18cd409c" /><Relationship Type="http://schemas.openxmlformats.org/officeDocument/2006/relationships/notesMaster" Target="/ppt/notesMasters/notesMaster1.xml" Id="R86a9cabe0eda4e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d90e26757c4d5f" /><Relationship Type="http://schemas.openxmlformats.org/officeDocument/2006/relationships/notesMaster" Target="/ppt/notesMasters/notesMaster1.xml" Id="Rdd2b659fa0dc4c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145581f142e43d0" /><Relationship Type="http://schemas.openxmlformats.org/officeDocument/2006/relationships/notesMaster" Target="/ppt/notesMasters/notesMaster1.xml" Id="R3e100da84ebb45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a9c752affa4a91" /><Relationship Type="http://schemas.openxmlformats.org/officeDocument/2006/relationships/notesMaster" Target="/ppt/notesMasters/notesMaster1.xml" Id="Ra6ef913ead79430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bd22b6d6ec43d4" /><Relationship Type="http://schemas.openxmlformats.org/officeDocument/2006/relationships/notesMaster" Target="/ppt/notesMasters/notesMaster1.xml" Id="R60d56ca82dc741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a110da19f244835" /><Relationship Type="http://schemas.openxmlformats.org/officeDocument/2006/relationships/notesMaster" Target="/ppt/notesMasters/notesMaster1.xml" Id="R14b84f7ce6a34e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4628ee1fb84437d" /><Relationship Type="http://schemas.openxmlformats.org/officeDocument/2006/relationships/notesMaster" Target="/ppt/notesMasters/notesMaster1.xml" Id="R84131e0c5c7d47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a4f2fd14161484f" /><Relationship Type="http://schemas.openxmlformats.org/officeDocument/2006/relationships/notesMaster" Target="/ppt/notesMasters/notesMaster1.xml" Id="Ra406e618aba6499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18ed75f3fe64bbc" /><Relationship Type="http://schemas.openxmlformats.org/officeDocument/2006/relationships/notesMaster" Target="/ppt/notesMasters/notesMaster1.xml" Id="R1dfe536b622e410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d86d4d16c14557" /><Relationship Type="http://schemas.openxmlformats.org/officeDocument/2006/relationships/notesMaster" Target="/ppt/notesMasters/notesMaster1.xml" Id="R5c61f1c189d04dc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73235acb29b4b5f" /><Relationship Type="http://schemas.openxmlformats.org/officeDocument/2006/relationships/notesMaster" Target="/ppt/notesMasters/notesMaster1.xml" Id="R1427c9f6dc0e47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f03926922fd4d88" /><Relationship Type="http://schemas.openxmlformats.org/officeDocument/2006/relationships/notesMaster" Target="/ppt/notesMasters/notesMaster1.xml" Id="Rf27b4ce7391b41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efd0092ea424702" /><Relationship Type="http://schemas.openxmlformats.org/officeDocument/2006/relationships/notesMaster" Target="/ppt/notesMasters/notesMaster1.xml" Id="R96b9ade5524644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78a0ba12284d89" /><Relationship Type="http://schemas.openxmlformats.org/officeDocument/2006/relationships/notesMaster" Target="/ppt/notesMasters/notesMaster1.xml" Id="R0a98f0d4686941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96cab6e44541e7" /><Relationship Type="http://schemas.openxmlformats.org/officeDocument/2006/relationships/notesMaster" Target="/ppt/notesMasters/notesMaster1.xml" Id="R0140007877a54e6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c6bf712bfcb41a5" /><Relationship Type="http://schemas.openxmlformats.org/officeDocument/2006/relationships/notesMaster" Target="/ppt/notesMasters/notesMaster1.xml" Id="R94e425fdec304c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b09f093aabd4644" /><Relationship Type="http://schemas.openxmlformats.org/officeDocument/2006/relationships/notesMaster" Target="/ppt/notesMasters/notesMaster1.xml" Id="R5cd7e361fcc0480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2cb5f192d51480b" /><Relationship Type="http://schemas.openxmlformats.org/officeDocument/2006/relationships/notesMaster" Target="/ppt/notesMasters/notesMaster1.xml" Id="Rcc3d50aea72f439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46c14608c1c4f9d" /><Relationship Type="http://schemas.openxmlformats.org/officeDocument/2006/relationships/notesMaster" Target="/ppt/notesMasters/notesMaster1.xml" Id="R2794d2b35e104fc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50d13db8374ea1" /><Relationship Type="http://schemas.openxmlformats.org/officeDocument/2006/relationships/notesMaster" Target="/ppt/notesMasters/notesMaster1.xml" Id="R1ccd741a48b54b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AutoHealOps is an educational operations platform for understanding application health and reviewing controlled recovery. Explain the name as automated assistance for keeping services healthy. The public website is a browser simulation. The repository also includes a local backend and an optional Kubernetes integration.</a:t>
            </a:r>
          </a:p>
          <a:p xmlns:a="http://schemas.openxmlformats.org/drawingml/2006/main">
            <a:r>
              <a:t/>
            </a:r>
          </a:p>
          <a:p xmlns:a="http://schemas.openxmlformats.org/drawingml/2006/main">
            <a:r>
              <a:t>Source: https://github.com/manikantbindass/AutoHealOps-Self-Healing-Kubernetes-Cluster-with-AI-Fault-Detection/blob/e9864e01c7f6ac71f4f144feaa9d39b14912d0a9/README.md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Autonomy means the configured controller observes, chooses, executes and checks a supported runbook. It does not mean arbitrary problems are automatically solved. The default remains manual, paused and dry-run. The public site is a simulation; real-cluster acceptance is pending in this development environment.</a:t>
            </a:r>
          </a:p>
          <a:p xmlns:a="http://schemas.openxmlformats.org/drawingml/2006/main">
            <a:r>
              <a:t/>
            </a:r>
          </a:p>
          <a:p xmlns:a="http://schemas.openxmlformats.org/drawingml/2006/main">
            <a:r>
              <a:t>Source: https://github.com/manikantbindass/AutoHealOps-Self-Healing-Kubernetes-Cluster-with-AI-Fault-Detection/blob/e9864e01c7f6ac71f4f144feaa9d39b14912d0a9/README.md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an illustrative shopping application, not a claim about an actual incident. An overloaded processor, rising memory use or repeated container restarts can be symptoms of a problem. They do not automatically identify the root cause. AutoHealOps organizes the evidence and the recovery workflow.</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https://github.com/manikantbindass/AutoHealOps-Self-Healing-Kubernetes-Cluster-with-AI-Fault-Detection/blob/e9864e01c7f6ac71f4f144feaa9d39b14912d0a9/docs/architecture.md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Kubernetes already restarts certain failed containers and replaces missing replicas according to its configuration. Do not describe AutoHealOps as inventing those capabilities. Its contribution is the observation, explanation, policy and review layer. This helps students demonstrate reliability concepts and engineers explore a controlled workflow.</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https://github.com/manikantbindass/AutoHealOps-Self-Healing-Kubernetes-Cluster-with-AI-Fault-Detection/blob/e9864e01c7f6ac71f4f144feaa9d39b14912d0a9/docs/architecture.md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analogy is a building manager. The cluster is the building, the namespace is a named area, deployments describe how many workers should be present, and pods are the running work units. The analogy is only a memory aid. A pod is a Kubernetes scheduling unit, not a physical room or a permanent machine.</a:t>
            </a:r>
          </a:p>
          <a:p xmlns:a="http://schemas.openxmlformats.org/drawingml/2006/main">
            <a:r>
              <a:t/>
            </a:r>
          </a:p>
          <a:p xmlns:a="http://schemas.openxmlformats.org/drawingml/2006/main">
            <a:r>
              <a:t>Source: https://github.com/manikantbindass/AutoHealOps-Self-Healing-Kubernetes-Cluster-with-AI-Fault-Detection/blob/e9864e01c7f6ac71f4f144feaa9d39b14912d0a9/docs/setup-guide.md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showcase requires no account. It is useful for explaining the idea without installing a cluster. The native or Compose path offers the actual backend and storage. Experienced operators still need to review security, workload suitability and failure handling before connecting real infrastructure.</a:t>
            </a:r>
          </a:p>
          <a:p xmlns:a="http://schemas.openxmlformats.org/drawingml/2006/main">
            <a:r>
              <a:t/>
            </a:r>
          </a:p>
          <a:p xmlns:a="http://schemas.openxmlformats.org/drawingml/2006/main">
            <a:r>
              <a:t>Source: https://github.com/manikantbindass/AutoHealOps-Self-Healing-Kubernetes-Cluster-with-AI-Fault-Detection/blob/e9864e01c7f6ac71f4f144feaa9d39b14912d0a9/README.md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browser-only public build has its own session simulation and calls none of these backend services. The local backend collects telemetry or uses an explicit demo generator. Prometheus and Grafana are optional monitoring components. The implementation deliberately avoids adding a broker that the local scale does not require.</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https://github.com/manikantbindass/AutoHealOps-Self-Healing-Kubernetes-Cluster-with-AI-Fault-Detection/blob/e9864e01c7f6ac71f4f144feaa9d39b14912d0a9/docs/architecture.md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alert is evidence of a symptom, not proof of a particular root cause. The system keeps related anomaly, alert, action and audit records connected by a correlation ID. Live namespace-wide measurements cannot justify choosing a particular workload automatically. The operator selects an eligible Deployment.</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https://github.com/manikantbindass/AutoHealOps-Self-Healing-Kubernetes-Cluster-with-AI-Fault-Detection/blob/e9864e01c7f6ac71f4f144feaa9d39b14912d0a9/docs/api-contract.md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to the data-source banner first. Then explain CPU and memory, pod status, active alerts, recovery policy and recent events. A number on this screenshot belongs to a demonstration dataset. It is not evidence of a real production cluster or a measured service-level objective.</a:t>
            </a:r>
          </a:p>
          <a:p xmlns:a="http://schemas.openxmlformats.org/drawingml/2006/main">
            <a:r>
              <a:t/>
            </a:r>
          </a:p>
          <a:p xmlns:a="http://schemas.openxmlformats.org/drawingml/2006/main">
            <a:r>
              <a:t>Source: https://github.com/manikantbindass/AutoHealOps-Self-Healing-Kubernetes-Cluster-with-AI-Fault-Detection/blob/e9864e01c7f6ac71f4f144feaa9d39b14912d0a9/docs/vercel-deployment.md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Anomaly means an observation that looks unusual relative to a baseline. It does not necessarily mean the service will fail. The project keeps the learned decision score separate from threshold explanations. A single CPU spike can trigger a rule even when Isolation Forest classifies the full feature combination as within its learned baseline. Synthetic evaluation does not establish accuracy on a real cluster.</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https://github.com/manikantbindass/AutoHealOps-Self-Healing-Kubernetes-Cluster-with-AI-Fault-Detection/blob/e9864e01c7f6ac71f4f144feaa9d39b14912d0a9/docs/ai-models.md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predictor compares a linear trend with a persistence baseline, which simply repeats the most recent measurement. It uses only earlier samples for each holdout prediction. No calibrated failure probability, confidence interval or time-to-failure is available. The public browser demo does not run the forecasting service.</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https://github.com/manikantbindass/AutoHealOps-Self-Healing-Kubernetes-Cluster-with-AI-Fault-Detection/blob/e9864e01c7f6ac71f4f144feaa9d39b14912d0a9/docs/ai-models.md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96% figure is the implemented synthetic CPU scenario, not a measurement from real infrastructure. The post-recovery value varies with the demo generator. The workflow records an explicitly simulated outcome and never touches Kubernetes. An operator can acknowledge or resolve the related incident. Recovery does not silently erase the audit history.</a:t>
            </a:r>
          </a:p>
          <a:p xmlns:a="http://schemas.openxmlformats.org/drawingml/2006/main">
            <a:r>
              <a:t/>
            </a:r>
          </a:p>
          <a:p xmlns:a="http://schemas.openxmlformats.org/drawingml/2006/main">
            <a:r>
              <a:t>Source: https://github.com/manikantbindass/AutoHealOps-Self-Healing-Kubernetes-Cluster-with-AI-Fault-Detection/blob/e9864e01c7f6ac71f4f144feaa9d39b14912d0a9/backend/services/platform.py</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requests require approval. Autonomous actions require exact startup targets, managed/autonomous Deployment labels, three distinct fresh source samples and stable UID/generation/Pod ownership. One concurrent operation, one attempt, replica limit five, 300-second target cooldown and ten actions/hour apply. No HPA may exist in the autonomous namespace. Emergency pause prevents new operations; it cannot undo an accepted mutation.</a:t>
            </a:r>
          </a:p>
          <a:p xmlns:a="http://schemas.openxmlformats.org/drawingml/2006/main">
            <a:r>
              <a:t/>
            </a:r>
          </a:p>
          <a:p xmlns:a="http://schemas.openxmlformats.org/drawingml/2006/main">
            <a:r>
              <a:t>Source: https://github.com/manikantbindass/AutoHealOps-Self-Healing-Kubernetes-Cluster-with-AI-Fault-Detection/blob/e9864e01c7f6ac71f4f144feaa9d39b14912d0a9/docs/security-operations.md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screenshot comes from the compiled public preview. It shows automatic policy authorization, one attempt and before/after synthetic measurements. No Kubernetes API was used. The live controller uses separate workload evidence and verification; a simulated outcome is never proof of a real repair.</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https://github.com/manikantbindass/AutoHealOps-Self-Healing-Kubernetes-Cluster-with-AI-Fault-Detection/blob/e9864e01c7f6ac71f4f144feaa9d39b14912d0a9/docs/api-contract.md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summarizes health and provenance. Cluster explorer searches and inspects available resources. Observability charts retained telemetry. Fault intelligence separates evidence and model identity from forecasting. Healing operations reviews recommendations and outcomes. Incidents support acknowledgement and resolution. Audit records actor, rationale and result. Settings expose safe policy and service status without revealing secret values.</a:t>
            </a:r>
          </a:p>
          <a:p xmlns:a="http://schemas.openxmlformats.org/drawingml/2006/main">
            <a:r>
              <a:t/>
            </a:r>
          </a:p>
          <a:p xmlns:a="http://schemas.openxmlformats.org/drawingml/2006/main">
            <a:r>
              <a:t>Source: https://github.com/manikantbindass/AutoHealOps-Self-Healing-Kubernetes-Cluster-with-AI-Fault-Detection/blob/e9864e01c7f6ac71f4f144feaa9d39b14912d0a9/README.md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website: https://autohealops.vercel.app. Native and Compose demos use the same backend contracts, while the public build deliberately isolates its state in the browser. Neither demo path represents a real repair. A live integration needs MongoDB, a reachable Prometheus installation, suitable exporters, strong credentials and scoped Kubernetes identity. Node-wide inventory is not implied by namespace-scoped authorization.</a:t>
            </a:r>
          </a:p>
          <a:p xmlns:a="http://schemas.openxmlformats.org/drawingml/2006/main">
            <a:r>
              <a:t/>
            </a:r>
          </a:p>
          <a:p xmlns:a="http://schemas.openxmlformats.org/drawingml/2006/main">
            <a:r>
              <a:t>Source: https://github.com/manikantbindass/AutoHealOps-Self-Healing-Kubernetes-Cluster-with-AI-Fault-Detection/blob/e9864e01c7f6ac71f4f144feaa9d39b14912d0a9/docs/vercel-deployment.md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visitor has an isolated browser session. Refreshing preserves session history and resets healing to paused. Closing the session clears the browser state according to the browser session-storage lifecycle. The site sends no requests to a backend or Kubernetes API. The local README gives installation instructions for the fuller system.</a:t>
            </a:r>
          </a:p>
          <a:p xmlns:a="http://schemas.openxmlformats.org/drawingml/2006/main">
            <a:r>
              <a:t/>
            </a:r>
          </a:p>
          <a:p xmlns:a="http://schemas.openxmlformats.org/drawingml/2006/main">
            <a:r>
              <a:t>Source: https://github.com/manikantbindass/AutoHealOps-Self-Healing-Kubernetes-Cluster-with-AI-Fault-Detection/blob/e9864e01c7f6ac71f4f144feaa9d39b14912d0a9/docs/vercel-deployment.md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existing local examples do not establish high availability or production safety. The backend has in-process locks and scheduling. Multiple backend replicas would require distributed claims and coordination. HPA needs metrics-server, NetworkPolicy requires a compatible CNI, and ingress TLS needs a controller and valid certificates. These dependencies are separate from simply applying a manifest.</a:t>
            </a:r>
          </a:p>
          <a:p xmlns:a="http://schemas.openxmlformats.org/drawingml/2006/main">
            <a:r>
              <a:t/>
            </a:r>
          </a:p>
          <a:p xmlns:a="http://schemas.openxmlformats.org/drawingml/2006/main">
            <a:r>
              <a:t>Source: https://github.com/manikantbindass/AutoHealOps-Self-Healing-Kubernetes-Cluster-with-AI-Fault-Detection/blob/e9864e01c7f6ac71f4f144feaa9d39b14912d0a9/docs/setup-guide.md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promise a percentage reduction in downtime, automatic root-cause diagnosis or proven production model accuracy. Local tests and CI provide evidence for implemented behavior, not an availability guarantee. Multi-cluster authorization, SSO, durable queues, immutable external audit storage and production-scale load or disaster-recovery verification remain future work.</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https://github.com/manikantbindass/AutoHealOps-Self-Healing-Kubernetes-Cluster-with-AI-Fault-Detection/blob/e9864e01c7f6ac71f4f144feaa9d39b14912d0a9/docs/architecture.md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controller runs after the normal collection pass. Namespace aggregate alerts remain separate and never choose a repair target. Confirmation resets after a pause, changed identity or invalid evidence. Source age must be at most 60 seconds; re-reading one scrape is not another confirmation. The mutation uses the same executor as manual actions.</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https://github.com/manikantbindass/AutoHealOps-Self-Healing-Kubernetes-Cluster-with-AI-Fault-Detection/blob/e9864e01c7f6ac71f4f144feaa9d39b14912d0a9/docs/autonomous-recovery.md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Restart conditions take precedence over CPU scale-up. The CPU rule uses the maximum owned-container fraction; the restart rule sums one-minute increases across owned Pods. Rules choose these runbooks. Isolation Forest is a separate detector, not a root-cause or repair planner. Neither scaling nor restarting is guaranteed to fix the problem. There is one autonomous attempt per sustained fault, followed by healthy-evidence re-arming.</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https://github.com/manikantbindass/AutoHealOps-Self-Healing-Kubernetes-Cluster-with-AI-Fault-Detection/blob/e9864e01c7f6ac71f4f144feaa9d39b14912d0a9/docs/autonomous-recovery.md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strong live credentials, MongoDB, explicit browser origins and scoped Kubernetes identity. AUTOMATIC_TARGETS is a comma-separated list of at most 20 exact Deployment names. Namespace RBAC also needs ReplicaSet and HPA reads. Paused and zero-replica Deployments are excluded. Do not opt in the control plane itself. Startup always pauses healing, including after changing DRY_RUN. The optional HPA example conflicts with this conservative first autonomous implementation.</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https://github.com/manikantbindass/AutoHealOps-Self-Healing-Kubernetes-Cluster-with-AI-Fault-Detection/blob/e9864e01c7f6ac71f4f144feaa9d39b14912d0a9/docs/autonomous-recovery.md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rollout polling window is 45 seconds with five-second API request timeouts. Subsequent telemetry verification defaults to a 120-second polling window plus bounded in-flight calls. Healthy means CPU at most 80%, memory at most 85% and restarts at most five per minute. Two distinct healthy observations re-arm a target. The latch follows record retention. API acceptance and workload telemetry do not establish every customer request is healthy. Pause cannot undo an accepted mutation; restart marks interrupted actions failed.</a:t>
            </a:r>
          </a:p>
          <a:p xmlns:a="http://schemas.openxmlformats.org/drawingml/2006/main">
            <a:r>
              <a:t/>
            </a:r>
          </a:p>
          <a:p xmlns:a="http://schemas.openxmlformats.org/drawingml/2006/main">
            <a:r>
              <a:t>Source: https://github.com/manikantbindass/AutoHealOps-Self-Healing-Kubernetes-Cluster-with-AI-Fault-Detection/blob/e9864e01c7f6ac71f4f144feaa9d39b14912d0a9/docs/autonomous-recovery.md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backend suite uses controlled adapters and Prometheus HTTP responses. Real Edge checks use the compiled application and its explicitly synthetic browser data, with zero API traffic. This is implementation evidence, not a deployed Kubernetes acceptance result. Test real exporter labels, RBAC, replica ownership, limits, cooldown, rollback handling by an operator, rollout failure and persistently unhealthy metrics before connecting an important workload. No production uptime or calibrated failure prediction is claimed.</a:t>
            </a:r>
          </a:p>
          <a:p xmlns:a="http://schemas.openxmlformats.org/drawingml/2006/main">
            <a:r>
              <a:t/>
            </a:r>
          </a:p>
          <a:p xmlns:a="http://schemas.openxmlformats.org/drawingml/2006/main">
            <a:r>
              <a:t>Source: https://github.com/manikantbindass/AutoHealOps-Self-Healing-Kubernetes-Cluster-with-AI-Fault-Detection/blob/e9864e01c7f6ac71f4f144feaa9d39b14912d0a9/docs/validation.md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repository: https://github.com/manikantbindass/AutoHealOps-Self-Healing-Kubernetes-Cluster-with-AI-Fault-Detection. Sources used in this deck: README.md, docs/architecture.md, docs/ai-models.md, docs/api-contract.md, docs/setup-guide.md, docs/security-operations.md and docs/vercel-deployment.md at source snapshot e9864e01c7f6ac71f4f144feaa9d39b14912d0a9. Author: Manikant Kumar. Prepared 25 October 2026. The companion PDF provides a more detailed explanation and glossary.</a:t>
            </a:r>
          </a:p>
          <a:p xmlns:a="http://schemas.openxmlformats.org/drawingml/2006/main">
            <a:r>
              <a:t/>
            </a:r>
          </a:p>
          <a:p xmlns:a="http://schemas.openxmlformats.org/drawingml/2006/main">
            <a:r>
              <a:t>Source: https://github.com/manikantbindass/AutoHealOps-Self-Healing-Kubernetes-Cluster-with-AI-Fault-Detection/blob/e9864e01c7f6ac71f4f144feaa9d39b14912d0a9/README.md</a:t>
            </a:r>
          </a:p>
          <a:p xmlns:a="http://schemas.openxmlformats.org/drawingml/2006/main">
            <a:r>
              <a:t>Source snapshot: e9864e01c7f6ac71f4f144feaa9d39b14912d0a9</a:t>
            </a:r>
          </a:p>
          <a:p xmlns:a="http://schemas.openxmlformats.org/drawingml/2006/main">
            <a:r>
              <a:t>Prepared 25 October 2026. Screenshots show labelled demo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6f734a3e3746a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6f1f04449ea48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5647ebfb5e4a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c7266896054b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1523fc1a8f5439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b0232986e24c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884E91E-465A-413E-BEBD-251E96407FD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211085-B265-4436-80D0-DBB4154746A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368549F-4B3F-4B9C-BF36-F01401A57E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F098EC-E66F-4180-A6F6-4C5C48B8F8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C5411AF-4240-4ED1-86C0-9984D225041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8E2584-91CA-4023-9A74-7DFBDF5C26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7E5B84-DAD3-496F-8964-A006C0594E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C1A897-6E62-4F60-AE47-4AC6DF2062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42AAD5-21F1-45AC-B959-7AD671674E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96BC43-976B-4576-8AEB-C56DFA22A3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2fe733a95943df" /><Relationship Type="http://schemas.openxmlformats.org/officeDocument/2006/relationships/slideLayout" Target="/ppt/slideLayouts/slideLayout1.xml" Id="Rf6f89a25e7b645aa" /><Relationship Type="http://schemas.openxmlformats.org/officeDocument/2006/relationships/slideLayout" Target="/ppt/slideLayouts/slideLayout2.xml" Id="Re220fc2cde904898" /><Relationship Type="http://schemas.openxmlformats.org/officeDocument/2006/relationships/slideLayout" Target="/ppt/slideLayouts/slideLayout3.xml" Id="R454bb34784274e56" /><Relationship Type="http://schemas.openxmlformats.org/officeDocument/2006/relationships/slideLayout" Target="/ppt/slideLayouts/slideLayout4.xml" Id="R25f81f01749242c8" /><Relationship Type="http://schemas.openxmlformats.org/officeDocument/2006/relationships/slideLayout" Target="/ppt/slideLayouts/slideLayout5.xml" Id="Ra5e51569b70c4955" /><Relationship Type="http://schemas.openxmlformats.org/officeDocument/2006/relationships/slideLayout" Target="/ppt/slideLayouts/slideLayout6.xml" Id="R10dd6f80828b4b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f89a25e7b645aa"/>
    <p:sldLayoutId xmlns:r="http://schemas.openxmlformats.org/officeDocument/2006/relationships" id="2147483650" r:id="Re220fc2cde904898"/>
    <p:sldLayoutId xmlns:r="http://schemas.openxmlformats.org/officeDocument/2006/relationships" id="2147483651" r:id="R454bb34784274e56"/>
    <p:sldLayoutId xmlns:r="http://schemas.openxmlformats.org/officeDocument/2006/relationships" id="2147483652" r:id="R25f81f01749242c8"/>
    <p:sldLayoutId xmlns:r="http://schemas.openxmlformats.org/officeDocument/2006/relationships" id="2147483653" r:id="Ra5e51569b70c4955"/>
    <p:sldLayoutId xmlns:r="http://schemas.openxmlformats.org/officeDocument/2006/relationships" id="2147483654" r:id="R10dd6f80828b4b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111b4e560f478b" /><Relationship Type="http://schemas.openxmlformats.org/officeDocument/2006/relationships/notesSlide" Target="/ppt/notesSlides/notesSlide1.xml" Id="R88b66c7d375549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f71394c79e4fd2" /><Relationship Type="http://schemas.openxmlformats.org/officeDocument/2006/relationships/notesSlide" Target="/ppt/notesSlides/notesSlide2.xml" Id="R4f73f9886ba841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35c660ee38476c" /><Relationship Type="http://schemas.openxmlformats.org/officeDocument/2006/relationships/notesSlide" Target="/ppt/notesSlides/notesSlide3.xml" Id="Rbb1966423c854e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a0cc13dc244981" /><Relationship Type="http://schemas.openxmlformats.org/officeDocument/2006/relationships/notesSlide" Target="/ppt/notesSlides/notesSlide4.xml" Id="R2e09420b67c5430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2e5e6fd57d24126" /><Relationship Type="http://schemas.openxmlformats.org/officeDocument/2006/relationships/notesSlide" Target="/ppt/notesSlides/notesSlide5.xml" Id="R6ad3230e25854c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c618d5deb04ebf" /><Relationship Type="http://schemas.openxmlformats.org/officeDocument/2006/relationships/notesSlide" Target="/ppt/notesSlides/notesSlide6.xml" Id="Ra4a121848876481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e3edbf78a04c0d" /><Relationship Type="http://schemas.openxmlformats.org/officeDocument/2006/relationships/notesSlide" Target="/ppt/notesSlides/notesSlide7.xml" Id="R15a5b24352c24e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be75accfe7401a" /><Relationship Type="http://schemas.openxmlformats.org/officeDocument/2006/relationships/notesSlide" Target="/ppt/notesSlides/notesSlide8.xml" Id="R94efdacb06a047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752828ce11d4838" /><Relationship Type="http://schemas.openxmlformats.org/officeDocument/2006/relationships/image" Target="/ppt/media/image.png" Id="R518563300cee4f2e" /><Relationship Type="http://schemas.openxmlformats.org/officeDocument/2006/relationships/notesSlide" Target="/ppt/notesSlides/notesSlide9.xml" Id="Rfe6e582588c542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33a8d9088b742aa" /><Relationship Type="http://schemas.openxmlformats.org/officeDocument/2006/relationships/notesSlide" Target="/ppt/notesSlides/notesSlide10.xml" Id="R7db932a0a6fd46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e096ddd9e414393" /><Relationship Type="http://schemas.openxmlformats.org/officeDocument/2006/relationships/notesSlide" Target="/ppt/notesSlides/notesSlide11.xml" Id="Rcfa2dcd828f24f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7a0f038cf9944d6" /><Relationship Type="http://schemas.openxmlformats.org/officeDocument/2006/relationships/notesSlide" Target="/ppt/notesSlides/notesSlide12.xml" Id="R3f5189b29eff4c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6fd9ea1abab423f" /><Relationship Type="http://schemas.openxmlformats.org/officeDocument/2006/relationships/notesSlide" Target="/ppt/notesSlides/notesSlide13.xml" Id="R43ab143c2ebb448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d6eef33eab04313" /><Relationship Type="http://schemas.openxmlformats.org/officeDocument/2006/relationships/image" Target="/ppt/media/image2.png" Id="Rb706cacb9c3a4128" /><Relationship Type="http://schemas.openxmlformats.org/officeDocument/2006/relationships/notesSlide" Target="/ppt/notesSlides/notesSlide14.xml" Id="Rd7ec7954480847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3315e2402df4ae5" /><Relationship Type="http://schemas.openxmlformats.org/officeDocument/2006/relationships/notesSlide" Target="/ppt/notesSlides/notesSlide15.xml" Id="R18dc2aadb29f43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94220f2c9154b02" /><Relationship Type="http://schemas.openxmlformats.org/officeDocument/2006/relationships/notesSlide" Target="/ppt/notesSlides/notesSlide16.xml" Id="R1a4cc9ce6dec421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264d5e15b7d4d1a" /><Relationship Type="http://schemas.openxmlformats.org/officeDocument/2006/relationships/notesSlide" Target="/ppt/notesSlides/notesSlide17.xml" Id="R77435c43a8ee48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0f3b51eb6aa4946" /><Relationship Type="http://schemas.openxmlformats.org/officeDocument/2006/relationships/notesSlide" Target="/ppt/notesSlides/notesSlide18.xml" Id="R9ec0340fd4a240c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8382dfb82ee4f4d" /><Relationship Type="http://schemas.openxmlformats.org/officeDocument/2006/relationships/notesSlide" Target="/ppt/notesSlides/notesSlide19.xml" Id="Rfc1fdcd139854bd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1d384eb0ad844d3" /><Relationship Type="http://schemas.openxmlformats.org/officeDocument/2006/relationships/notesSlide" Target="/ppt/notesSlides/notesSlide20.xml" Id="Reacd9729666c402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9c1f1c1c4bb94cc4" /><Relationship Type="http://schemas.openxmlformats.org/officeDocument/2006/relationships/notesSlide" Target="/ppt/notesSlides/notesSlide21.xml" Id="Raf6233ec0015412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24dfce7f6c1457d" /><Relationship Type="http://schemas.openxmlformats.org/officeDocument/2006/relationships/notesSlide" Target="/ppt/notesSlides/notesSlide22.xml" Id="R78dc5f24cbb342f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0c8c9537514482a" /><Relationship Type="http://schemas.openxmlformats.org/officeDocument/2006/relationships/notesSlide" Target="/ppt/notesSlides/notesSlide23.xml" Id="Rae843a039a0945e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72e88e6d07334462" /><Relationship Type="http://schemas.openxmlformats.org/officeDocument/2006/relationships/notesSlide" Target="/ppt/notesSlides/notesSlide24.xml" Id="Rea3012294cf243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447696fdd284c5a" /><Relationship Type="http://schemas.openxmlformats.org/officeDocument/2006/relationships/hyperlink" Target="https://autohealops.vercel.app" TargetMode="External" Id="Rcd72f59544f740ec" /><Relationship Type="http://schemas.openxmlformats.org/officeDocument/2006/relationships/hyperlink" Target="https://github.com/manikantbindass/AutoHealOps-Self-Healing-Kubernetes-Cluster-with-AI-Fault-Detection" TargetMode="External" Id="Rff1b0aa7b1da4225" /><Relationship Type="http://schemas.openxmlformats.org/officeDocument/2006/relationships/notesSlide" Target="/ppt/notesSlides/notesSlide25.xml" Id="R0c134b9d177b4238" /></Relationships>
</file>

<file path=ppt/slides/slide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5" name="cover-title">
            <a:extLst xmlns:a="http://schemas.openxmlformats.org/drawingml/2006/main">
              <a:ext uri="{FF2B5EF4-FFF2-40B4-BE49-F238E27FC236}">
                <a16:creationId xmlns:a16="http://schemas.microsoft.com/office/drawing/2014/main" id="{1DCF08CA-6C88-44DE-8743-087D7D83C7F6}"/>
              </a:ext>
            </a:extLst>
          </p:cNvPr>
          <p:cNvSpPr>
            <a:spLocks xmlns:a="http://schemas.openxmlformats.org/drawingml/2006/main" noGrp="1"/>
          </p:cNvSpPr>
          <p:nvPr/>
        </p:nvSpPr>
        <p:spPr>
          <a:xfrm xmlns:a="http://schemas.openxmlformats.org/drawingml/2006/main">
            <a:off x="685800" y="1619250"/>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600" b="0">
                <a:solidFill>
                  <a:srgbClr val="F2F2F2"/>
                </a:solidFill>
                <a:latin typeface="Arial"/>
                <a:ea typeface="Arial"/>
                <a:cs typeface="Arial"/>
              </a:defRPr>
            </a:defPPr>
            <a:lvl1pPr algn="l">
              <a:defRPr sz="6600" b="0">
                <a:solidFill>
                  <a:srgbClr val="F2F2F2"/>
                </a:solidFill>
                <a:latin typeface="Arial"/>
                <a:ea typeface="Arial"/>
                <a:cs typeface="Arial"/>
              </a:defRPr>
            </a:lvl1pPr>
            <a:lvl2pPr algn="l">
              <a:defRPr sz="6600" b="0">
                <a:solidFill>
                  <a:srgbClr val="F2F2F2"/>
                </a:solidFill>
                <a:latin typeface="Arial"/>
                <a:ea typeface="Arial"/>
                <a:cs typeface="Arial"/>
              </a:defRPr>
            </a:lvl2pPr>
            <a:lvl3pPr algn="l">
              <a:defRPr sz="6600" b="0">
                <a:solidFill>
                  <a:srgbClr val="F2F2F2"/>
                </a:solidFill>
                <a:latin typeface="Arial"/>
                <a:ea typeface="Arial"/>
                <a:cs typeface="Arial"/>
              </a:defRPr>
            </a:lvl3pPr>
            <a:lvl4pPr algn="l">
              <a:defRPr sz="6600" b="0">
                <a:solidFill>
                  <a:srgbClr val="F2F2F2"/>
                </a:solidFill>
                <a:latin typeface="Arial"/>
                <a:ea typeface="Arial"/>
                <a:cs typeface="Arial"/>
              </a:defRPr>
            </a:lvl4pPr>
            <a:lvl5pPr algn="l">
              <a:defRPr sz="6600" b="0">
                <a:solidFill>
                  <a:srgbClr val="F2F2F2"/>
                </a:solidFill>
                <a:latin typeface="Arial"/>
                <a:ea typeface="Arial"/>
                <a:cs typeface="Arial"/>
              </a:defRPr>
            </a:lvl5pPr>
            <a:lvl6pPr algn="l">
              <a:defRPr sz="6600" b="0">
                <a:solidFill>
                  <a:srgbClr val="F2F2F2"/>
                </a:solidFill>
                <a:latin typeface="Arial"/>
                <a:ea typeface="Arial"/>
                <a:cs typeface="Arial"/>
              </a:defRPr>
            </a:lvl6pPr>
            <a:lvl7pPr algn="l">
              <a:defRPr sz="6600" b="0">
                <a:solidFill>
                  <a:srgbClr val="F2F2F2"/>
                </a:solidFill>
                <a:latin typeface="Arial"/>
                <a:ea typeface="Arial"/>
                <a:cs typeface="Arial"/>
              </a:defRPr>
            </a:lvl7pPr>
            <a:lvl8pPr algn="l">
              <a:defRPr sz="6600" b="0">
                <a:solidFill>
                  <a:srgbClr val="F2F2F2"/>
                </a:solidFill>
                <a:latin typeface="Arial"/>
                <a:ea typeface="Arial"/>
                <a:cs typeface="Arial"/>
              </a:defRPr>
            </a:lvl8pPr>
            <a:lvl9pPr algn="l">
              <a:defRPr sz="6600" b="0">
                <a:solidFill>
                  <a:srgbClr val="F2F2F2"/>
                </a:solidFill>
                <a:latin typeface="Arial"/>
                <a:ea typeface="Arial"/>
                <a:cs typeface="Arial"/>
              </a:defRPr>
            </a:lvl9pPr>
          </a:lstStyle>
          <a:p xmlns:a="http://schemas.openxmlformats.org/drawingml/2006/main">
            <a:pPr algn="l">
              <a:lnSpc>
                <a:spcPct val="118000"/>
              </a:lnSpc>
              <a:buNone/>
              <a:defRPr sz="6600" b="0">
                <a:solidFill>
                  <a:srgbClr val="F2F2F2"/>
                </a:solidFill>
                <a:latin typeface="Arial"/>
                <a:ea typeface="Arial"/>
                <a:cs typeface="Arial"/>
              </a:defRPr>
            </a:pPr>
            <a:r>
              <a:rPr sz="6600" b="0">
                <a:solidFill>
                  <a:srgbClr val="F2F2F2"/>
                </a:solidFill>
                <a:latin typeface="Arial"/>
                <a:ea typeface="Arial"/>
                <a:cs typeface="Arial"/>
              </a:rPr>
              <a:t>AutoHealOps</a:t>
            </a:r>
          </a:p>
        </p:txBody>
      </p:sp>
      <p:sp>
        <p:nvSpPr>
          <p:cNvPr id="2" name="cover-subtitle">
            <a:extLst xmlns:a="http://schemas.openxmlformats.org/drawingml/2006/main">
              <a:ext uri="{FF2B5EF4-FFF2-40B4-BE49-F238E27FC236}">
                <a16:creationId xmlns:a16="http://schemas.microsoft.com/office/drawing/2014/main" id="{CB3E0CB9-9C95-42A0-8BE5-6AD7F970750E}"/>
              </a:ext>
            </a:extLst>
          </p:cNvPr>
          <p:cNvSpPr>
            <a:spLocks xmlns:a="http://schemas.openxmlformats.org/drawingml/2006/main" noGrp="1"/>
          </p:cNvSpPr>
          <p:nvPr/>
        </p:nvSpPr>
        <p:spPr>
          <a:xfrm xmlns:a="http://schemas.openxmlformats.org/drawingml/2006/main">
            <a:off x="723900" y="2876550"/>
            <a:ext cx="1000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B9BDC2"/>
                </a:solidFill>
                <a:latin typeface="Arial"/>
                <a:ea typeface="Arial"/>
                <a:cs typeface="Arial"/>
              </a:defRPr>
            </a:defPPr>
            <a:lvl1pPr algn="l">
              <a:defRPr sz="2700" b="0">
                <a:solidFill>
                  <a:srgbClr val="B9BDC2"/>
                </a:solidFill>
                <a:latin typeface="Arial"/>
                <a:ea typeface="Arial"/>
                <a:cs typeface="Arial"/>
              </a:defRPr>
            </a:lvl1pPr>
            <a:lvl2pPr algn="l">
              <a:defRPr sz="2700" b="0">
                <a:solidFill>
                  <a:srgbClr val="B9BDC2"/>
                </a:solidFill>
                <a:latin typeface="Arial"/>
                <a:ea typeface="Arial"/>
                <a:cs typeface="Arial"/>
              </a:defRPr>
            </a:lvl2pPr>
            <a:lvl3pPr algn="l">
              <a:defRPr sz="2700" b="0">
                <a:solidFill>
                  <a:srgbClr val="B9BDC2"/>
                </a:solidFill>
                <a:latin typeface="Arial"/>
                <a:ea typeface="Arial"/>
                <a:cs typeface="Arial"/>
              </a:defRPr>
            </a:lvl3pPr>
            <a:lvl4pPr algn="l">
              <a:defRPr sz="2700" b="0">
                <a:solidFill>
                  <a:srgbClr val="B9BDC2"/>
                </a:solidFill>
                <a:latin typeface="Arial"/>
                <a:ea typeface="Arial"/>
                <a:cs typeface="Arial"/>
              </a:defRPr>
            </a:lvl4pPr>
            <a:lvl5pPr algn="l">
              <a:defRPr sz="2700" b="0">
                <a:solidFill>
                  <a:srgbClr val="B9BDC2"/>
                </a:solidFill>
                <a:latin typeface="Arial"/>
                <a:ea typeface="Arial"/>
                <a:cs typeface="Arial"/>
              </a:defRPr>
            </a:lvl5pPr>
            <a:lvl6pPr algn="l">
              <a:defRPr sz="2700" b="0">
                <a:solidFill>
                  <a:srgbClr val="B9BDC2"/>
                </a:solidFill>
                <a:latin typeface="Arial"/>
                <a:ea typeface="Arial"/>
                <a:cs typeface="Arial"/>
              </a:defRPr>
            </a:lvl6pPr>
            <a:lvl7pPr algn="l">
              <a:defRPr sz="2700" b="0">
                <a:solidFill>
                  <a:srgbClr val="B9BDC2"/>
                </a:solidFill>
                <a:latin typeface="Arial"/>
                <a:ea typeface="Arial"/>
                <a:cs typeface="Arial"/>
              </a:defRPr>
            </a:lvl7pPr>
            <a:lvl8pPr algn="l">
              <a:defRPr sz="2700" b="0">
                <a:solidFill>
                  <a:srgbClr val="B9BDC2"/>
                </a:solidFill>
                <a:latin typeface="Arial"/>
                <a:ea typeface="Arial"/>
                <a:cs typeface="Arial"/>
              </a:defRPr>
            </a:lvl8pPr>
            <a:lvl9pPr algn="l">
              <a:defRPr sz="2700" b="0">
                <a:solidFill>
                  <a:srgbClr val="B9BDC2"/>
                </a:solidFill>
                <a:latin typeface="Arial"/>
                <a:ea typeface="Arial"/>
                <a:cs typeface="Arial"/>
              </a:defRPr>
            </a:lvl9pPr>
          </a:lstStyle>
          <a:p xmlns:a="http://schemas.openxmlformats.org/drawingml/2006/main">
            <a:pPr algn="l">
              <a:lnSpc>
                <a:spcPct val="118000"/>
              </a:lnSpc>
              <a:buNone/>
              <a:defRPr sz="2700" b="0">
                <a:solidFill>
                  <a:srgbClr val="B9BDC2"/>
                </a:solidFill>
                <a:latin typeface="Arial"/>
                <a:ea typeface="Arial"/>
                <a:cs typeface="Arial"/>
              </a:defRPr>
            </a:pPr>
            <a:r>
              <a:rPr sz="2700" b="0">
                <a:solidFill>
                  <a:srgbClr val="B9BDC2"/>
                </a:solidFill>
                <a:latin typeface="Arial"/>
                <a:ea typeface="Arial"/>
                <a:cs typeface="Arial"/>
              </a:rPr>
              <a:t>A plain-language introduction</a:t>
            </a:r>
          </a:p>
        </p:txBody>
      </p:sp>
      <p:sp>
        <p:nvSpPr>
          <p:cNvPr id="3" name="cover-purpose">
            <a:extLst xmlns:a="http://schemas.openxmlformats.org/drawingml/2006/main">
              <a:ext uri="{FF2B5EF4-FFF2-40B4-BE49-F238E27FC236}">
                <a16:creationId xmlns:a16="http://schemas.microsoft.com/office/drawing/2014/main" id="{527CF2AE-CA33-4BFF-BB59-D296A08F4CA1}"/>
              </a:ext>
            </a:extLst>
          </p:cNvPr>
          <p:cNvSpPr>
            <a:spLocks xmlns:a="http://schemas.openxmlformats.org/drawingml/2006/main" noGrp="1"/>
          </p:cNvSpPr>
          <p:nvPr/>
        </p:nvSpPr>
        <p:spPr>
          <a:xfrm xmlns:a="http://schemas.openxmlformats.org/drawingml/2006/main">
            <a:off x="723900" y="3790950"/>
            <a:ext cx="9525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B9BDC2"/>
                </a:solidFill>
                <a:latin typeface="Arial"/>
                <a:ea typeface="Arial"/>
                <a:cs typeface="Arial"/>
              </a:defRPr>
            </a:defPPr>
            <a:lvl1pPr algn="l">
              <a:defRPr sz="2025" b="0">
                <a:solidFill>
                  <a:srgbClr val="B9BDC2"/>
                </a:solidFill>
                <a:latin typeface="Arial"/>
                <a:ea typeface="Arial"/>
                <a:cs typeface="Arial"/>
              </a:defRPr>
            </a:lvl1pPr>
            <a:lvl2pPr algn="l">
              <a:defRPr sz="2025" b="0">
                <a:solidFill>
                  <a:srgbClr val="B9BDC2"/>
                </a:solidFill>
                <a:latin typeface="Arial"/>
                <a:ea typeface="Arial"/>
                <a:cs typeface="Arial"/>
              </a:defRPr>
            </a:lvl2pPr>
            <a:lvl3pPr algn="l">
              <a:defRPr sz="2025" b="0">
                <a:solidFill>
                  <a:srgbClr val="B9BDC2"/>
                </a:solidFill>
                <a:latin typeface="Arial"/>
                <a:ea typeface="Arial"/>
                <a:cs typeface="Arial"/>
              </a:defRPr>
            </a:lvl3pPr>
            <a:lvl4pPr algn="l">
              <a:defRPr sz="2025" b="0">
                <a:solidFill>
                  <a:srgbClr val="B9BDC2"/>
                </a:solidFill>
                <a:latin typeface="Arial"/>
                <a:ea typeface="Arial"/>
                <a:cs typeface="Arial"/>
              </a:defRPr>
            </a:lvl4pPr>
            <a:lvl5pPr algn="l">
              <a:defRPr sz="2025" b="0">
                <a:solidFill>
                  <a:srgbClr val="B9BDC2"/>
                </a:solidFill>
                <a:latin typeface="Arial"/>
                <a:ea typeface="Arial"/>
                <a:cs typeface="Arial"/>
              </a:defRPr>
            </a:lvl5pPr>
            <a:lvl6pPr algn="l">
              <a:defRPr sz="2025" b="0">
                <a:solidFill>
                  <a:srgbClr val="B9BDC2"/>
                </a:solidFill>
                <a:latin typeface="Arial"/>
                <a:ea typeface="Arial"/>
                <a:cs typeface="Arial"/>
              </a:defRPr>
            </a:lvl6pPr>
            <a:lvl7pPr algn="l">
              <a:defRPr sz="2025" b="0">
                <a:solidFill>
                  <a:srgbClr val="B9BDC2"/>
                </a:solidFill>
                <a:latin typeface="Arial"/>
                <a:ea typeface="Arial"/>
                <a:cs typeface="Arial"/>
              </a:defRPr>
            </a:lvl7pPr>
            <a:lvl8pPr algn="l">
              <a:defRPr sz="2025" b="0">
                <a:solidFill>
                  <a:srgbClr val="B9BDC2"/>
                </a:solidFill>
                <a:latin typeface="Arial"/>
                <a:ea typeface="Arial"/>
                <a:cs typeface="Arial"/>
              </a:defRPr>
            </a:lvl8pPr>
            <a:lvl9pPr algn="l">
              <a:defRPr sz="2025" b="0">
                <a:solidFill>
                  <a:srgbClr val="B9BDC2"/>
                </a:solidFill>
                <a:latin typeface="Arial"/>
                <a:ea typeface="Arial"/>
                <a:cs typeface="Arial"/>
              </a:defRPr>
            </a:lvl9pPr>
          </a:lstStyle>
          <a:p xmlns:a="http://schemas.openxmlformats.org/drawingml/2006/main">
            <a:pPr algn="l">
              <a:lnSpc>
                <a:spcPct val="118000"/>
              </a:lnSpc>
              <a:buNone/>
              <a:defRPr sz="2025" b="0">
                <a:solidFill>
                  <a:srgbClr val="B9BDC2"/>
                </a:solidFill>
                <a:latin typeface="Arial"/>
                <a:ea typeface="Arial"/>
                <a:cs typeface="Arial"/>
              </a:defRPr>
            </a:pPr>
            <a:r>
              <a:rPr sz="2025" b="0">
                <a:solidFill>
                  <a:srgbClr val="B9BDC2"/>
                </a:solidFill>
                <a:latin typeface="Arial"/>
                <a:ea typeface="Arial"/>
                <a:cs typeface="Arial"/>
              </a:rPr>
              <a:t>What it does, how it works and why it is needed</a:t>
            </a:r>
          </a:p>
        </p:txBody>
      </p:sp>
      <p:sp>
        <p:nvSpPr>
          <p:cNvPr id="4" name="cover-author">
            <a:extLst xmlns:a="http://schemas.openxmlformats.org/drawingml/2006/main">
              <a:ext uri="{FF2B5EF4-FFF2-40B4-BE49-F238E27FC236}">
                <a16:creationId xmlns:a16="http://schemas.microsoft.com/office/drawing/2014/main" id="{B93C074F-06CF-4BAA-A5F7-DAE45CADD697}"/>
              </a:ext>
            </a:extLst>
          </p:cNvPr>
          <p:cNvSpPr>
            <a:spLocks xmlns:a="http://schemas.openxmlformats.org/drawingml/2006/main" noGrp="1"/>
          </p:cNvSpPr>
          <p:nvPr/>
        </p:nvSpPr>
        <p:spPr>
          <a:xfrm xmlns:a="http://schemas.openxmlformats.org/drawingml/2006/main">
            <a:off x="723900" y="5381625"/>
            <a:ext cx="571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9C9FA4"/>
                </a:solidFill>
                <a:latin typeface="Arial"/>
                <a:ea typeface="Arial"/>
                <a:cs typeface="Arial"/>
              </a:defRPr>
            </a:defPPr>
            <a:lvl1pPr algn="l">
              <a:defRPr sz="1500" b="0">
                <a:solidFill>
                  <a:srgbClr val="9C9FA4"/>
                </a:solidFill>
                <a:latin typeface="Arial"/>
                <a:ea typeface="Arial"/>
                <a:cs typeface="Arial"/>
              </a:defRPr>
            </a:lvl1pPr>
            <a:lvl2pPr algn="l">
              <a:defRPr sz="1500" b="0">
                <a:solidFill>
                  <a:srgbClr val="9C9FA4"/>
                </a:solidFill>
                <a:latin typeface="Arial"/>
                <a:ea typeface="Arial"/>
                <a:cs typeface="Arial"/>
              </a:defRPr>
            </a:lvl2pPr>
            <a:lvl3pPr algn="l">
              <a:defRPr sz="1500" b="0">
                <a:solidFill>
                  <a:srgbClr val="9C9FA4"/>
                </a:solidFill>
                <a:latin typeface="Arial"/>
                <a:ea typeface="Arial"/>
                <a:cs typeface="Arial"/>
              </a:defRPr>
            </a:lvl3pPr>
            <a:lvl4pPr algn="l">
              <a:defRPr sz="1500" b="0">
                <a:solidFill>
                  <a:srgbClr val="9C9FA4"/>
                </a:solidFill>
                <a:latin typeface="Arial"/>
                <a:ea typeface="Arial"/>
                <a:cs typeface="Arial"/>
              </a:defRPr>
            </a:lvl4pPr>
            <a:lvl5pPr algn="l">
              <a:defRPr sz="1500" b="0">
                <a:solidFill>
                  <a:srgbClr val="9C9FA4"/>
                </a:solidFill>
                <a:latin typeface="Arial"/>
                <a:ea typeface="Arial"/>
                <a:cs typeface="Arial"/>
              </a:defRPr>
            </a:lvl5pPr>
            <a:lvl6pPr algn="l">
              <a:defRPr sz="1500" b="0">
                <a:solidFill>
                  <a:srgbClr val="9C9FA4"/>
                </a:solidFill>
                <a:latin typeface="Arial"/>
                <a:ea typeface="Arial"/>
                <a:cs typeface="Arial"/>
              </a:defRPr>
            </a:lvl6pPr>
            <a:lvl7pPr algn="l">
              <a:defRPr sz="1500" b="0">
                <a:solidFill>
                  <a:srgbClr val="9C9FA4"/>
                </a:solidFill>
                <a:latin typeface="Arial"/>
                <a:ea typeface="Arial"/>
                <a:cs typeface="Arial"/>
              </a:defRPr>
            </a:lvl7pPr>
            <a:lvl8pPr algn="l">
              <a:defRPr sz="1500" b="0">
                <a:solidFill>
                  <a:srgbClr val="9C9FA4"/>
                </a:solidFill>
                <a:latin typeface="Arial"/>
                <a:ea typeface="Arial"/>
                <a:cs typeface="Arial"/>
              </a:defRPr>
            </a:lvl8pPr>
            <a:lvl9pPr algn="l">
              <a:defRPr sz="1500" b="0">
                <a:solidFill>
                  <a:srgbClr val="9C9FA4"/>
                </a:solidFill>
                <a:latin typeface="Arial"/>
                <a:ea typeface="Arial"/>
                <a:cs typeface="Arial"/>
              </a:defRPr>
            </a:lvl9pPr>
          </a:lstStyle>
          <a:p xmlns:a="http://schemas.openxmlformats.org/drawingml/2006/main">
            <a:pPr algn="l">
              <a:lnSpc>
                <a:spcPct val="118000"/>
              </a:lnSpc>
              <a:buNone/>
              <a:defRPr sz="1500" b="0">
                <a:solidFill>
                  <a:srgbClr val="9C9FA4"/>
                </a:solidFill>
                <a:latin typeface="Arial"/>
                <a:ea typeface="Arial"/>
                <a:cs typeface="Arial"/>
              </a:defRPr>
            </a:pPr>
            <a:r>
              <a:rPr sz="1500" b="0">
                <a:solidFill>
                  <a:srgbClr val="9C9FA4"/>
                </a:solidFill>
                <a:latin typeface="Arial"/>
                <a:ea typeface="Arial"/>
                <a:cs typeface="Arial"/>
              </a:rPr>
              <a:t>Manikant Kumar</a:t>
            </a:r>
          </a:p>
          <a:p xmlns:a="http://schemas.openxmlformats.org/drawingml/2006/main">
            <a:pPr algn="l">
              <a:lnSpc>
                <a:spcPct val="118000"/>
              </a:lnSpc>
              <a:buNone/>
              <a:defRPr sz="1500" b="0">
                <a:solidFill>
                  <a:srgbClr val="9C9FA4"/>
                </a:solidFill>
                <a:latin typeface="Arial"/>
                <a:ea typeface="Arial"/>
                <a:cs typeface="Arial"/>
              </a:defRPr>
            </a:pPr>
            <a:r>
              <a:rPr sz="1500" b="0">
                <a:solidFill>
                  <a:srgbClr val="9C9FA4"/>
                </a:solidFill>
                <a:latin typeface="Arial"/>
                <a:ea typeface="Arial"/>
                <a:cs typeface="Arial"/>
              </a:rPr>
              <a:t>25 October 2026</a:t>
            </a:r>
          </a:p>
        </p:txBody>
      </p:sp>
    </p:spTree>
    <p:extLst>
      <p:ext uri="{BB962C8B-B14F-4D97-AF65-F5344CB8AC3E}">
        <p14:creationId xmlns:p14="http://schemas.microsoft.com/office/powerpoint/2010/main" val="231937115"/>
      </p:ext>
    </p:extLst>
  </p:cSld>
</p:sld>
</file>

<file path=ppt/slides/slide2.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0CB82C24-E735-4C05-B2A1-2C89F03F3FBF}"/>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Project abstract</a:t>
            </a:r>
          </a:p>
        </p:txBody>
      </p:sp>
      <p:sp>
        <p:nvSpPr>
          <p:cNvPr id="2" name="main-statement">
            <a:extLst xmlns:a="http://schemas.openxmlformats.org/drawingml/2006/main">
              <a:ext uri="{FF2B5EF4-FFF2-40B4-BE49-F238E27FC236}">
                <a16:creationId xmlns:a16="http://schemas.microsoft.com/office/drawing/2014/main" id="{CED971F9-98D3-4564-B66E-5D12665EDB69}"/>
              </a:ext>
            </a:extLst>
          </p:cNvPr>
          <p:cNvSpPr>
            <a:spLocks xmlns:a="http://schemas.openxmlformats.org/drawingml/2006/main" noGrp="1"/>
          </p:cNvSpPr>
          <p:nvPr/>
        </p:nvSpPr>
        <p:spPr>
          <a:xfrm xmlns:a="http://schemas.openxmlformats.org/drawingml/2006/main">
            <a:off x="628650" y="1714500"/>
            <a:ext cx="104775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925" b="0">
                <a:solidFill>
                  <a:srgbClr val="F2F2F2"/>
                </a:solidFill>
                <a:latin typeface="Arial"/>
                <a:ea typeface="Arial"/>
                <a:cs typeface="Arial"/>
              </a:defRPr>
            </a:defPPr>
            <a:lvl1pPr algn="l">
              <a:defRPr sz="2925" b="0">
                <a:solidFill>
                  <a:srgbClr val="F2F2F2"/>
                </a:solidFill>
                <a:latin typeface="Arial"/>
                <a:ea typeface="Arial"/>
                <a:cs typeface="Arial"/>
              </a:defRPr>
            </a:lvl1pPr>
            <a:lvl2pPr algn="l">
              <a:defRPr sz="2925" b="0">
                <a:solidFill>
                  <a:srgbClr val="F2F2F2"/>
                </a:solidFill>
                <a:latin typeface="Arial"/>
                <a:ea typeface="Arial"/>
                <a:cs typeface="Arial"/>
              </a:defRPr>
            </a:lvl2pPr>
            <a:lvl3pPr algn="l">
              <a:defRPr sz="2925" b="0">
                <a:solidFill>
                  <a:srgbClr val="F2F2F2"/>
                </a:solidFill>
                <a:latin typeface="Arial"/>
                <a:ea typeface="Arial"/>
                <a:cs typeface="Arial"/>
              </a:defRPr>
            </a:lvl3pPr>
            <a:lvl4pPr algn="l">
              <a:defRPr sz="2925" b="0">
                <a:solidFill>
                  <a:srgbClr val="F2F2F2"/>
                </a:solidFill>
                <a:latin typeface="Arial"/>
                <a:ea typeface="Arial"/>
                <a:cs typeface="Arial"/>
              </a:defRPr>
            </a:lvl4pPr>
            <a:lvl5pPr algn="l">
              <a:defRPr sz="2925" b="0">
                <a:solidFill>
                  <a:srgbClr val="F2F2F2"/>
                </a:solidFill>
                <a:latin typeface="Arial"/>
                <a:ea typeface="Arial"/>
                <a:cs typeface="Arial"/>
              </a:defRPr>
            </a:lvl5pPr>
            <a:lvl6pPr algn="l">
              <a:defRPr sz="2925" b="0">
                <a:solidFill>
                  <a:srgbClr val="F2F2F2"/>
                </a:solidFill>
                <a:latin typeface="Arial"/>
                <a:ea typeface="Arial"/>
                <a:cs typeface="Arial"/>
              </a:defRPr>
            </a:lvl6pPr>
            <a:lvl7pPr algn="l">
              <a:defRPr sz="2925" b="0">
                <a:solidFill>
                  <a:srgbClr val="F2F2F2"/>
                </a:solidFill>
                <a:latin typeface="Arial"/>
                <a:ea typeface="Arial"/>
                <a:cs typeface="Arial"/>
              </a:defRPr>
            </a:lvl7pPr>
            <a:lvl8pPr algn="l">
              <a:defRPr sz="2925" b="0">
                <a:solidFill>
                  <a:srgbClr val="F2F2F2"/>
                </a:solidFill>
                <a:latin typeface="Arial"/>
                <a:ea typeface="Arial"/>
                <a:cs typeface="Arial"/>
              </a:defRPr>
            </a:lvl8pPr>
            <a:lvl9pPr algn="l">
              <a:defRPr sz="2925" b="0">
                <a:solidFill>
                  <a:srgbClr val="F2F2F2"/>
                </a:solidFill>
                <a:latin typeface="Arial"/>
                <a:ea typeface="Arial"/>
                <a:cs typeface="Arial"/>
              </a:defRPr>
            </a:lvl9pPr>
          </a:lstStyle>
          <a:p xmlns:a="http://schemas.openxmlformats.org/drawingml/2006/main">
            <a:pPr algn="l">
              <a:lnSpc>
                <a:spcPct val="118000"/>
              </a:lnSpc>
              <a:buNone/>
              <a:defRPr sz="2925" b="0">
                <a:solidFill>
                  <a:srgbClr val="F2F2F2"/>
                </a:solidFill>
                <a:latin typeface="Arial"/>
                <a:ea typeface="Arial"/>
                <a:cs typeface="Arial"/>
              </a:defRPr>
            </a:pPr>
            <a:r>
              <a:rPr sz="2925" b="0">
                <a:solidFill>
                  <a:srgbClr val="F2F2F2"/>
                </a:solidFill>
                <a:latin typeface="Arial"/>
                <a:ea typeface="Arial"/>
                <a:cs typeface="Arial"/>
              </a:rPr>
              <a:t>AutoHealOps explains service problems and can run supported recovery actions automatically.</a:t>
            </a:r>
          </a:p>
        </p:txBody>
      </p:sp>
      <p:sp>
        <p:nvSpPr>
          <p:cNvPr id="3" name="explanation">
            <a:extLst xmlns:a="http://schemas.openxmlformats.org/drawingml/2006/main">
              <a:ext uri="{FF2B5EF4-FFF2-40B4-BE49-F238E27FC236}">
                <a16:creationId xmlns:a16="http://schemas.microsoft.com/office/drawing/2014/main" id="{0749C15E-DA06-4873-B5BD-332F0C883C78}"/>
              </a:ext>
            </a:extLst>
          </p:cNvPr>
          <p:cNvSpPr>
            <a:spLocks xmlns:a="http://schemas.openxmlformats.org/drawingml/2006/main" noGrp="1"/>
          </p:cNvSpPr>
          <p:nvPr/>
        </p:nvSpPr>
        <p:spPr>
          <a:xfrm xmlns:a="http://schemas.openxmlformats.org/drawingml/2006/main">
            <a:off x="638175" y="3467100"/>
            <a:ext cx="10334625"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B9BDC2"/>
                </a:solidFill>
                <a:latin typeface="Arial"/>
                <a:ea typeface="Arial"/>
                <a:cs typeface="Arial"/>
              </a:defRPr>
            </a:defPPr>
            <a:lvl1pPr algn="l">
              <a:defRPr sz="2025" b="0">
                <a:solidFill>
                  <a:srgbClr val="B9BDC2"/>
                </a:solidFill>
                <a:latin typeface="Arial"/>
                <a:ea typeface="Arial"/>
                <a:cs typeface="Arial"/>
              </a:defRPr>
            </a:lvl1pPr>
            <a:lvl2pPr algn="l">
              <a:defRPr sz="2025" b="0">
                <a:solidFill>
                  <a:srgbClr val="B9BDC2"/>
                </a:solidFill>
                <a:latin typeface="Arial"/>
                <a:ea typeface="Arial"/>
                <a:cs typeface="Arial"/>
              </a:defRPr>
            </a:lvl2pPr>
            <a:lvl3pPr algn="l">
              <a:defRPr sz="2025" b="0">
                <a:solidFill>
                  <a:srgbClr val="B9BDC2"/>
                </a:solidFill>
                <a:latin typeface="Arial"/>
                <a:ea typeface="Arial"/>
                <a:cs typeface="Arial"/>
              </a:defRPr>
            </a:lvl3pPr>
            <a:lvl4pPr algn="l">
              <a:defRPr sz="2025" b="0">
                <a:solidFill>
                  <a:srgbClr val="B9BDC2"/>
                </a:solidFill>
                <a:latin typeface="Arial"/>
                <a:ea typeface="Arial"/>
                <a:cs typeface="Arial"/>
              </a:defRPr>
            </a:lvl4pPr>
            <a:lvl5pPr algn="l">
              <a:defRPr sz="2025" b="0">
                <a:solidFill>
                  <a:srgbClr val="B9BDC2"/>
                </a:solidFill>
                <a:latin typeface="Arial"/>
                <a:ea typeface="Arial"/>
                <a:cs typeface="Arial"/>
              </a:defRPr>
            </a:lvl5pPr>
            <a:lvl6pPr algn="l">
              <a:defRPr sz="2025" b="0">
                <a:solidFill>
                  <a:srgbClr val="B9BDC2"/>
                </a:solidFill>
                <a:latin typeface="Arial"/>
                <a:ea typeface="Arial"/>
                <a:cs typeface="Arial"/>
              </a:defRPr>
            </a:lvl6pPr>
            <a:lvl7pPr algn="l">
              <a:defRPr sz="2025" b="0">
                <a:solidFill>
                  <a:srgbClr val="B9BDC2"/>
                </a:solidFill>
                <a:latin typeface="Arial"/>
                <a:ea typeface="Arial"/>
                <a:cs typeface="Arial"/>
              </a:defRPr>
            </a:lvl7pPr>
            <a:lvl8pPr algn="l">
              <a:defRPr sz="2025" b="0">
                <a:solidFill>
                  <a:srgbClr val="B9BDC2"/>
                </a:solidFill>
                <a:latin typeface="Arial"/>
                <a:ea typeface="Arial"/>
                <a:cs typeface="Arial"/>
              </a:defRPr>
            </a:lvl8pPr>
            <a:lvl9pPr algn="l">
              <a:defRPr sz="2025" b="0">
                <a:solidFill>
                  <a:srgbClr val="B9BDC2"/>
                </a:solidFill>
                <a:latin typeface="Arial"/>
                <a:ea typeface="Arial"/>
                <a:cs typeface="Arial"/>
              </a:defRPr>
            </a:lvl9pPr>
          </a:lstStyle>
          <a:p xmlns:a="http://schemas.openxmlformats.org/drawingml/2006/main">
            <a:pPr algn="l">
              <a:lnSpc>
                <a:spcPct val="118000"/>
              </a:lnSpc>
              <a:buNone/>
              <a:defRPr sz="2025" b="0">
                <a:solidFill>
                  <a:srgbClr val="B9BDC2"/>
                </a:solidFill>
                <a:latin typeface="Arial"/>
                <a:ea typeface="Arial"/>
                <a:cs typeface="Arial"/>
              </a:defRPr>
            </a:pPr>
            <a:r>
              <a:rPr sz="2025" b="0">
                <a:solidFill>
                  <a:srgbClr val="B9BDC2"/>
                </a:solidFill>
                <a:latin typeface="Arial"/>
                <a:ea typeface="Arial"/>
                <a:cs typeface="Arial"/>
              </a:rPr>
              <a:t>It collects health measurements, explains unusual behavior and records decisions. Opted-in live workloads can use confirmed CPU scale-up and restart runbooks without per-action approval.</a:t>
            </a:r>
          </a:p>
          <a:p xmlns:a="http://schemas.openxmlformats.org/drawingml/2006/main">
            <a:r>
              <a:t/>
            </a:r>
          </a:p>
          <a:p xmlns:a="http://schemas.openxmlformats.org/drawingml/2006/main">
            <a:pPr algn="l">
              <a:lnSpc>
                <a:spcPct val="118000"/>
              </a:lnSpc>
              <a:buNone/>
              <a:defRPr sz="2025" b="0">
                <a:solidFill>
                  <a:srgbClr val="B9BDC2"/>
                </a:solidFill>
                <a:latin typeface="Arial"/>
                <a:ea typeface="Arial"/>
                <a:cs typeface="Arial"/>
              </a:defRPr>
            </a:pPr>
            <a:r>
              <a:rPr sz="2025" b="0">
                <a:solidFill>
                  <a:srgbClr val="B9BDC2"/>
                </a:solidFill>
                <a:latin typeface="Arial"/>
                <a:ea typeface="Arial"/>
                <a:cs typeface="Arial"/>
              </a:rPr>
              <a:t>The public demo simulates recovery. Real infrastructure needs the separately configured backend.</a:t>
            </a:r>
          </a:p>
        </p:txBody>
      </p:sp>
      <p:sp>
        <p:nvSpPr>
          <p:cNvPr id="4" name="page-number">
            <a:extLst xmlns:a="http://schemas.openxmlformats.org/drawingml/2006/main">
              <a:ext uri="{FF2B5EF4-FFF2-40B4-BE49-F238E27FC236}">
                <a16:creationId xmlns:a16="http://schemas.microsoft.com/office/drawing/2014/main" id="{981716A5-00F5-4F33-97CA-47A375225212}"/>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02 / 25</a:t>
            </a:r>
          </a:p>
        </p:txBody>
      </p:sp>
    </p:spTree>
    <p:extLst>
      <p:ext uri="{BB962C8B-B14F-4D97-AF65-F5344CB8AC3E}">
        <p14:creationId xmlns:p14="http://schemas.microsoft.com/office/powerpoint/2010/main" val="532492147"/>
      </p:ext>
    </p:extLst>
  </p:cSld>
</p:sld>
</file>

<file path=ppt/slides/slide3.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29D5D40-4DB2-4485-8CBC-FEA5148CB898}"/>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Why service problems matter</a:t>
            </a:r>
          </a:p>
        </p:txBody>
      </p:sp>
      <p:sp>
        <p:nvSpPr>
          <p:cNvPr id="2" name="row-label-0">
            <a:extLst xmlns:a="http://schemas.openxmlformats.org/drawingml/2006/main">
              <a:ext uri="{FF2B5EF4-FFF2-40B4-BE49-F238E27FC236}">
                <a16:creationId xmlns:a16="http://schemas.microsoft.com/office/drawing/2014/main" id="{A7146955-F882-42DD-ADC6-E47F16AD6E81}"/>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 slow checkout</a:t>
            </a:r>
          </a:p>
        </p:txBody>
      </p:sp>
      <p:sp>
        <p:nvSpPr>
          <p:cNvPr id="3" name="row-description-0">
            <a:extLst xmlns:a="http://schemas.openxmlformats.org/drawingml/2006/main">
              <a:ext uri="{FF2B5EF4-FFF2-40B4-BE49-F238E27FC236}">
                <a16:creationId xmlns:a16="http://schemas.microsoft.com/office/drawing/2014/main" id="{2FE36593-5D15-46F9-A1FA-046682893B50}"/>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 customer waits because the application is busy or unhealthy.</a:t>
            </a:r>
          </a:p>
        </p:txBody>
      </p:sp>
      <p:sp>
        <p:nvSpPr>
          <p:cNvPr id="4" name="row-label-1">
            <a:extLst xmlns:a="http://schemas.openxmlformats.org/drawingml/2006/main">
              <a:ext uri="{FF2B5EF4-FFF2-40B4-BE49-F238E27FC236}">
                <a16:creationId xmlns:a16="http://schemas.microsoft.com/office/drawing/2014/main" id="{92F364BD-DD65-4C99-BB9A-571E2CD55E0C}"/>
              </a:ext>
            </a:extLst>
          </p:cNvPr>
          <p:cNvSpPr>
            <a:spLocks xmlns:a="http://schemas.openxmlformats.org/drawingml/2006/main" noGrp="1"/>
          </p:cNvSpPr>
          <p:nvPr/>
        </p:nvSpPr>
        <p:spPr>
          <a:xfrm xmlns:a="http://schemas.openxmlformats.org/drawingml/2006/main">
            <a:off x="628650" y="30480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Scattered evidence</a:t>
            </a:r>
          </a:p>
        </p:txBody>
      </p:sp>
      <p:sp>
        <p:nvSpPr>
          <p:cNvPr id="5" name="row-description-1">
            <a:extLst xmlns:a="http://schemas.openxmlformats.org/drawingml/2006/main">
              <a:ext uri="{FF2B5EF4-FFF2-40B4-BE49-F238E27FC236}">
                <a16:creationId xmlns:a16="http://schemas.microsoft.com/office/drawing/2014/main" id="{6ED038CF-C72F-4360-9542-98B966C69161}"/>
              </a:ext>
            </a:extLst>
          </p:cNvPr>
          <p:cNvSpPr>
            <a:spLocks xmlns:a="http://schemas.openxmlformats.org/drawingml/2006/main" noGrp="1"/>
          </p:cNvSpPr>
          <p:nvPr/>
        </p:nvSpPr>
        <p:spPr>
          <a:xfrm xmlns:a="http://schemas.openxmlformats.org/drawingml/2006/main">
            <a:off x="4095750" y="30480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One tool shows resource use while another records restarts or alerts.</a:t>
            </a:r>
          </a:p>
        </p:txBody>
      </p:sp>
      <p:sp>
        <p:nvSpPr>
          <p:cNvPr id="6" name="row-label-2">
            <a:extLst xmlns:a="http://schemas.openxmlformats.org/drawingml/2006/main">
              <a:ext uri="{FF2B5EF4-FFF2-40B4-BE49-F238E27FC236}">
                <a16:creationId xmlns:a16="http://schemas.microsoft.com/office/drawing/2014/main" id="{B2B94E28-74A4-44FF-A89C-F9FB8C3E696D}"/>
              </a:ext>
            </a:extLst>
          </p:cNvPr>
          <p:cNvSpPr>
            <a:spLocks xmlns:a="http://schemas.openxmlformats.org/drawingml/2006/main" noGrp="1"/>
          </p:cNvSpPr>
          <p:nvPr/>
        </p:nvSpPr>
        <p:spPr>
          <a:xfrm xmlns:a="http://schemas.openxmlformats.org/drawingml/2006/main">
            <a:off x="628650" y="43529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Pressure on the operator</a:t>
            </a:r>
          </a:p>
        </p:txBody>
      </p:sp>
      <p:sp>
        <p:nvSpPr>
          <p:cNvPr id="7" name="row-description-2">
            <a:extLst xmlns:a="http://schemas.openxmlformats.org/drawingml/2006/main">
              <a:ext uri="{FF2B5EF4-FFF2-40B4-BE49-F238E27FC236}">
                <a16:creationId xmlns:a16="http://schemas.microsoft.com/office/drawing/2014/main" id="{DB97A024-7429-4948-9DA6-37BC50FD3A0D}"/>
              </a:ext>
            </a:extLst>
          </p:cNvPr>
          <p:cNvSpPr>
            <a:spLocks xmlns:a="http://schemas.openxmlformats.org/drawingml/2006/main" noGrp="1"/>
          </p:cNvSpPr>
          <p:nvPr/>
        </p:nvSpPr>
        <p:spPr>
          <a:xfrm xmlns:a="http://schemas.openxmlformats.org/drawingml/2006/main">
            <a:off x="4095750" y="435292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Someone must identify a safe action and check what happened next.</a:t>
            </a:r>
          </a:p>
        </p:txBody>
      </p:sp>
      <p:sp>
        <p:nvSpPr>
          <p:cNvPr id="8" name="page-number">
            <a:extLst xmlns:a="http://schemas.openxmlformats.org/drawingml/2006/main">
              <a:ext uri="{FF2B5EF4-FFF2-40B4-BE49-F238E27FC236}">
                <a16:creationId xmlns:a16="http://schemas.microsoft.com/office/drawing/2014/main" id="{BE78783F-38EF-44D4-BCAA-009C7AF07D69}"/>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03 / 25</a:t>
            </a:r>
          </a:p>
        </p:txBody>
      </p:sp>
    </p:spTree>
    <p:extLst>
      <p:ext uri="{BB962C8B-B14F-4D97-AF65-F5344CB8AC3E}">
        <p14:creationId xmlns:p14="http://schemas.microsoft.com/office/powerpoint/2010/main" val="689481334"/>
      </p:ext>
    </p:extLst>
  </p:cSld>
</p:sld>
</file>

<file path=ppt/slides/slide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2174ADF2-D75C-4FDC-9A27-DE7F6B10F4E2}"/>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Why this project is useful</a:t>
            </a:r>
          </a:p>
        </p:txBody>
      </p:sp>
      <p:sp>
        <p:nvSpPr>
          <p:cNvPr id="2" name="column-label-0">
            <a:extLst xmlns:a="http://schemas.openxmlformats.org/drawingml/2006/main">
              <a:ext uri="{FF2B5EF4-FFF2-40B4-BE49-F238E27FC236}">
                <a16:creationId xmlns:a16="http://schemas.microsoft.com/office/drawing/2014/main" id="{E6F041F4-A27B-4CBE-AF83-3421FA1C5F73}"/>
              </a:ext>
            </a:extLst>
          </p:cNvPr>
          <p:cNvSpPr>
            <a:spLocks xmlns:a="http://schemas.openxmlformats.org/drawingml/2006/main" noGrp="1"/>
          </p:cNvSpPr>
          <p:nvPr/>
        </p:nvSpPr>
        <p:spPr>
          <a:xfrm xmlns:a="http://schemas.openxmlformats.org/drawingml/2006/main">
            <a:off x="628650"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A clearer investigation</a:t>
            </a:r>
          </a:p>
        </p:txBody>
      </p:sp>
      <p:sp>
        <p:nvSpPr>
          <p:cNvPr id="3" name="column-body-0">
            <a:extLst xmlns:a="http://schemas.openxmlformats.org/drawingml/2006/main">
              <a:ext uri="{FF2B5EF4-FFF2-40B4-BE49-F238E27FC236}">
                <a16:creationId xmlns:a16="http://schemas.microsoft.com/office/drawing/2014/main" id="{1CFDB24B-89B0-4A1C-B4C4-03DDC39FDDCC}"/>
              </a:ext>
            </a:extLst>
          </p:cNvPr>
          <p:cNvSpPr>
            <a:spLocks xmlns:a="http://schemas.openxmlformats.org/drawingml/2006/main" noGrp="1"/>
          </p:cNvSpPr>
          <p:nvPr/>
        </p:nvSpPr>
        <p:spPr>
          <a:xfrm xmlns:a="http://schemas.openxmlformats.org/drawingml/2006/main">
            <a:off x="628650"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Measurements, anomaly explanations and incident context appear in one interface. An operator can review the reason for an alert before acting.</a:t>
            </a:r>
          </a:p>
        </p:txBody>
      </p:sp>
      <p:sp>
        <p:nvSpPr>
          <p:cNvPr id="4" name="column-label-1">
            <a:extLst xmlns:a="http://schemas.openxmlformats.org/drawingml/2006/main">
              <a:ext uri="{FF2B5EF4-FFF2-40B4-BE49-F238E27FC236}">
                <a16:creationId xmlns:a16="http://schemas.microsoft.com/office/drawing/2014/main" id="{821598A9-D38E-4CEC-BED4-2C48E889FC17}"/>
              </a:ext>
            </a:extLst>
          </p:cNvPr>
          <p:cNvSpPr>
            <a:spLocks xmlns:a="http://schemas.openxmlformats.org/drawingml/2006/main" noGrp="1"/>
          </p:cNvSpPr>
          <p:nvPr/>
        </p:nvSpPr>
        <p:spPr>
          <a:xfrm xmlns:a="http://schemas.openxmlformats.org/drawingml/2006/main">
            <a:off x="6505575"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A controlled response</a:t>
            </a:r>
          </a:p>
        </p:txBody>
      </p:sp>
      <p:sp>
        <p:nvSpPr>
          <p:cNvPr id="5" name="column-body-1">
            <a:extLst xmlns:a="http://schemas.openxmlformats.org/drawingml/2006/main">
              <a:ext uri="{FF2B5EF4-FFF2-40B4-BE49-F238E27FC236}">
                <a16:creationId xmlns:a16="http://schemas.microsoft.com/office/drawing/2014/main" id="{206DC391-4932-4AA0-8472-D3054FCB2C6B}"/>
              </a:ext>
            </a:extLst>
          </p:cNvPr>
          <p:cNvSpPr>
            <a:spLocks xmlns:a="http://schemas.openxmlformats.org/drawingml/2006/main" noGrp="1"/>
          </p:cNvSpPr>
          <p:nvPr/>
        </p:nvSpPr>
        <p:spPr>
          <a:xfrm xmlns:a="http://schemas.openxmlformats.org/drawingml/2006/main">
            <a:off x="6505575"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Approval, pause, cooldown and audit records make the decision visible. Kubernetes already handles some basic recovery; this project adds evidence and policy around supported actions.</a:t>
            </a:r>
          </a:p>
        </p:txBody>
      </p:sp>
      <p:sp>
        <p:nvSpPr>
          <p:cNvPr id="6" name="page-number">
            <a:extLst xmlns:a="http://schemas.openxmlformats.org/drawingml/2006/main">
              <a:ext uri="{FF2B5EF4-FFF2-40B4-BE49-F238E27FC236}">
                <a16:creationId xmlns:a16="http://schemas.microsoft.com/office/drawing/2014/main" id="{815E3B02-D15E-4144-98E6-C42B48342581}"/>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04 / 25</a:t>
            </a:r>
          </a:p>
        </p:txBody>
      </p:sp>
    </p:spTree>
    <p:extLst>
      <p:ext uri="{BB962C8B-B14F-4D97-AF65-F5344CB8AC3E}">
        <p14:creationId xmlns:p14="http://schemas.microsoft.com/office/powerpoint/2010/main" val="879014149"/>
      </p:ext>
    </p:extLst>
  </p:cSld>
</p:sld>
</file>

<file path=ppt/slides/slide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659BA883-5700-489B-8DBE-70220E381FA1}"/>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Kubernetes in everyday language</a:t>
            </a:r>
          </a:p>
        </p:txBody>
      </p:sp>
      <p:sp>
        <p:nvSpPr>
          <p:cNvPr id="2" name="row-label-0">
            <a:extLst xmlns:a="http://schemas.openxmlformats.org/drawingml/2006/main">
              <a:ext uri="{FF2B5EF4-FFF2-40B4-BE49-F238E27FC236}">
                <a16:creationId xmlns:a16="http://schemas.microsoft.com/office/drawing/2014/main" id="{C67A0188-85B1-4BA3-A503-8BEA9AA812E8}"/>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Container</a:t>
            </a:r>
          </a:p>
        </p:txBody>
      </p:sp>
      <p:sp>
        <p:nvSpPr>
          <p:cNvPr id="3" name="row-description-0">
            <a:extLst xmlns:a="http://schemas.openxmlformats.org/drawingml/2006/main">
              <a:ext uri="{FF2B5EF4-FFF2-40B4-BE49-F238E27FC236}">
                <a16:creationId xmlns:a16="http://schemas.microsoft.com/office/drawing/2014/main" id="{573AFA49-241E-4E74-B93A-0C89D5FD835F}"/>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An application packaged with what it needs to run.</a:t>
            </a:r>
          </a:p>
        </p:txBody>
      </p:sp>
      <p:sp>
        <p:nvSpPr>
          <p:cNvPr id="4" name="row-label-1">
            <a:extLst xmlns:a="http://schemas.openxmlformats.org/drawingml/2006/main">
              <a:ext uri="{FF2B5EF4-FFF2-40B4-BE49-F238E27FC236}">
                <a16:creationId xmlns:a16="http://schemas.microsoft.com/office/drawing/2014/main" id="{9B3B1944-0299-4856-894D-95822444707F}"/>
              </a:ext>
            </a:extLst>
          </p:cNvPr>
          <p:cNvSpPr>
            <a:spLocks xmlns:a="http://schemas.openxmlformats.org/drawingml/2006/main" noGrp="1"/>
          </p:cNvSpPr>
          <p:nvPr/>
        </p:nvSpPr>
        <p:spPr>
          <a:xfrm xmlns:a="http://schemas.openxmlformats.org/drawingml/2006/main">
            <a:off x="628650" y="28098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Pod</a:t>
            </a:r>
          </a:p>
        </p:txBody>
      </p:sp>
      <p:sp>
        <p:nvSpPr>
          <p:cNvPr id="5" name="row-description-1">
            <a:extLst xmlns:a="http://schemas.openxmlformats.org/drawingml/2006/main">
              <a:ext uri="{FF2B5EF4-FFF2-40B4-BE49-F238E27FC236}">
                <a16:creationId xmlns:a16="http://schemas.microsoft.com/office/drawing/2014/main" id="{A9CB46A2-7999-470E-892F-3D7298D6F6C5}"/>
              </a:ext>
            </a:extLst>
          </p:cNvPr>
          <p:cNvSpPr>
            <a:spLocks xmlns:a="http://schemas.openxmlformats.org/drawingml/2006/main" noGrp="1"/>
          </p:cNvSpPr>
          <p:nvPr/>
        </p:nvSpPr>
        <p:spPr>
          <a:xfrm xmlns:a="http://schemas.openxmlformats.org/drawingml/2006/main">
            <a:off x="4095750" y="28098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 small running unit that holds one or more containers.</a:t>
            </a:r>
          </a:p>
        </p:txBody>
      </p:sp>
      <p:sp>
        <p:nvSpPr>
          <p:cNvPr id="6" name="row-label-2">
            <a:extLst xmlns:a="http://schemas.openxmlformats.org/drawingml/2006/main">
              <a:ext uri="{FF2B5EF4-FFF2-40B4-BE49-F238E27FC236}">
                <a16:creationId xmlns:a16="http://schemas.microsoft.com/office/drawing/2014/main" id="{B590477A-1482-4906-8387-AA4EE3760FCC}"/>
              </a:ext>
            </a:extLst>
          </p:cNvPr>
          <p:cNvSpPr>
            <a:spLocks xmlns:a="http://schemas.openxmlformats.org/drawingml/2006/main" noGrp="1"/>
          </p:cNvSpPr>
          <p:nvPr/>
        </p:nvSpPr>
        <p:spPr>
          <a:xfrm xmlns:a="http://schemas.openxmlformats.org/drawingml/2006/main">
            <a:off x="628650" y="38766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Deployment</a:t>
            </a:r>
          </a:p>
        </p:txBody>
      </p:sp>
      <p:sp>
        <p:nvSpPr>
          <p:cNvPr id="7" name="row-description-2">
            <a:extLst xmlns:a="http://schemas.openxmlformats.org/drawingml/2006/main">
              <a:ext uri="{FF2B5EF4-FFF2-40B4-BE49-F238E27FC236}">
                <a16:creationId xmlns:a16="http://schemas.microsoft.com/office/drawing/2014/main" id="{44FEA8A4-59F0-48B3-AC2D-D51E56C43739}"/>
              </a:ext>
            </a:extLst>
          </p:cNvPr>
          <p:cNvSpPr>
            <a:spLocks xmlns:a="http://schemas.openxmlformats.org/drawingml/2006/main" noGrp="1"/>
          </p:cNvSpPr>
          <p:nvPr/>
        </p:nvSpPr>
        <p:spPr>
          <a:xfrm xmlns:a="http://schemas.openxmlformats.org/drawingml/2006/main">
            <a:off x="4095750" y="38766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Instructions for keeping a chosen number of application copies running.</a:t>
            </a:r>
          </a:p>
        </p:txBody>
      </p:sp>
      <p:sp>
        <p:nvSpPr>
          <p:cNvPr id="8" name="row-label-3">
            <a:extLst xmlns:a="http://schemas.openxmlformats.org/drawingml/2006/main">
              <a:ext uri="{FF2B5EF4-FFF2-40B4-BE49-F238E27FC236}">
                <a16:creationId xmlns:a16="http://schemas.microsoft.com/office/drawing/2014/main" id="{9DD86923-AB88-4196-A4E9-A952D62AA763}"/>
              </a:ext>
            </a:extLst>
          </p:cNvPr>
          <p:cNvSpPr>
            <a:spLocks xmlns:a="http://schemas.openxmlformats.org/drawingml/2006/main" noGrp="1"/>
          </p:cNvSpPr>
          <p:nvPr/>
        </p:nvSpPr>
        <p:spPr>
          <a:xfrm xmlns:a="http://schemas.openxmlformats.org/drawingml/2006/main">
            <a:off x="628650" y="49434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Cluster and namespace</a:t>
            </a:r>
          </a:p>
        </p:txBody>
      </p:sp>
      <p:sp>
        <p:nvSpPr>
          <p:cNvPr id="9" name="row-description-3">
            <a:extLst xmlns:a="http://schemas.openxmlformats.org/drawingml/2006/main">
              <a:ext uri="{FF2B5EF4-FFF2-40B4-BE49-F238E27FC236}">
                <a16:creationId xmlns:a16="http://schemas.microsoft.com/office/drawing/2014/main" id="{74442DBE-58CF-4C45-9433-B054098069B1}"/>
              </a:ext>
            </a:extLst>
          </p:cNvPr>
          <p:cNvSpPr>
            <a:spLocks xmlns:a="http://schemas.openxmlformats.org/drawingml/2006/main" noGrp="1"/>
          </p:cNvSpPr>
          <p:nvPr/>
        </p:nvSpPr>
        <p:spPr>
          <a:xfrm xmlns:a="http://schemas.openxmlformats.org/drawingml/2006/main">
            <a:off x="4095750" y="49434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The machines that run the applications, and a named area that groups resources.</a:t>
            </a:r>
          </a:p>
        </p:txBody>
      </p:sp>
      <p:sp>
        <p:nvSpPr>
          <p:cNvPr id="10" name="page-number">
            <a:extLst xmlns:a="http://schemas.openxmlformats.org/drawingml/2006/main">
              <a:ext uri="{FF2B5EF4-FFF2-40B4-BE49-F238E27FC236}">
                <a16:creationId xmlns:a16="http://schemas.microsoft.com/office/drawing/2014/main" id="{C6EF70A2-BCD2-4EBB-B12C-CB16596E6F2D}"/>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05 / 25</a:t>
            </a:r>
          </a:p>
        </p:txBody>
      </p:sp>
    </p:spTree>
    <p:extLst>
      <p:ext uri="{BB962C8B-B14F-4D97-AF65-F5344CB8AC3E}">
        <p14:creationId xmlns:p14="http://schemas.microsoft.com/office/powerpoint/2010/main" val="2032052423"/>
      </p:ext>
    </p:extLst>
  </p:cSld>
</p:sld>
</file>

<file path=ppt/slides/slide6.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D90A78D2-148A-41B0-BD7B-69893A91C0FD}"/>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Purpose and audience</a:t>
            </a:r>
          </a:p>
        </p:txBody>
      </p:sp>
      <p:sp>
        <p:nvSpPr>
          <p:cNvPr id="2" name="row-label-0">
            <a:extLst xmlns:a="http://schemas.openxmlformats.org/drawingml/2006/main">
              <a:ext uri="{FF2B5EF4-FFF2-40B4-BE49-F238E27FC236}">
                <a16:creationId xmlns:a16="http://schemas.microsoft.com/office/drawing/2014/main" id="{E5D901B3-055D-4940-A1C7-82E95FE0DF70}"/>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Students and evaluators</a:t>
            </a:r>
          </a:p>
        </p:txBody>
      </p:sp>
      <p:sp>
        <p:nvSpPr>
          <p:cNvPr id="3" name="row-description-0">
            <a:extLst xmlns:a="http://schemas.openxmlformats.org/drawingml/2006/main">
              <a:ext uri="{FF2B5EF4-FFF2-40B4-BE49-F238E27FC236}">
                <a16:creationId xmlns:a16="http://schemas.microsoft.com/office/drawing/2014/main" id="{497AF6CE-B716-4A8D-8D97-49C30A2BDAA6}"/>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Understand monitoring, fault detection and safe remediation through a visible demonstration.</a:t>
            </a:r>
          </a:p>
        </p:txBody>
      </p:sp>
      <p:sp>
        <p:nvSpPr>
          <p:cNvPr id="4" name="row-label-1">
            <a:extLst xmlns:a="http://schemas.openxmlformats.org/drawingml/2006/main">
              <a:ext uri="{FF2B5EF4-FFF2-40B4-BE49-F238E27FC236}">
                <a16:creationId xmlns:a16="http://schemas.microsoft.com/office/drawing/2014/main" id="{CC6D02A7-CD3C-4C01-9AC3-0740B5A44FF2}"/>
              </a:ext>
            </a:extLst>
          </p:cNvPr>
          <p:cNvSpPr>
            <a:spLocks xmlns:a="http://schemas.openxmlformats.org/drawingml/2006/main" noGrp="1"/>
          </p:cNvSpPr>
          <p:nvPr/>
        </p:nvSpPr>
        <p:spPr>
          <a:xfrm xmlns:a="http://schemas.openxmlformats.org/drawingml/2006/main">
            <a:off x="628650" y="30480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Developers</a:t>
            </a:r>
          </a:p>
        </p:txBody>
      </p:sp>
      <p:sp>
        <p:nvSpPr>
          <p:cNvPr id="5" name="row-description-1">
            <a:extLst xmlns:a="http://schemas.openxmlformats.org/drawingml/2006/main">
              <a:ext uri="{FF2B5EF4-FFF2-40B4-BE49-F238E27FC236}">
                <a16:creationId xmlns:a16="http://schemas.microsoft.com/office/drawing/2014/main" id="{5C3CA9C9-6F49-4DB8-946C-F7A23A144202}"/>
              </a:ext>
            </a:extLst>
          </p:cNvPr>
          <p:cNvSpPr>
            <a:spLocks xmlns:a="http://schemas.openxmlformats.org/drawingml/2006/main" noGrp="1"/>
          </p:cNvSpPr>
          <p:nvPr/>
        </p:nvSpPr>
        <p:spPr>
          <a:xfrm xmlns:a="http://schemas.openxmlformats.org/drawingml/2006/main">
            <a:off x="4095750" y="30480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Explore how application symptoms connect to incidents and recovery decisions.</a:t>
            </a:r>
          </a:p>
        </p:txBody>
      </p:sp>
      <p:sp>
        <p:nvSpPr>
          <p:cNvPr id="6" name="row-label-2">
            <a:extLst xmlns:a="http://schemas.openxmlformats.org/drawingml/2006/main">
              <a:ext uri="{FF2B5EF4-FFF2-40B4-BE49-F238E27FC236}">
                <a16:creationId xmlns:a16="http://schemas.microsoft.com/office/drawing/2014/main" id="{033C66D9-15FE-4D0B-B11D-424752C949C9}"/>
              </a:ext>
            </a:extLst>
          </p:cNvPr>
          <p:cNvSpPr>
            <a:spLocks xmlns:a="http://schemas.openxmlformats.org/drawingml/2006/main" noGrp="1"/>
          </p:cNvSpPr>
          <p:nvPr/>
        </p:nvSpPr>
        <p:spPr>
          <a:xfrm xmlns:a="http://schemas.openxmlformats.org/drawingml/2006/main">
            <a:off x="628650" y="43529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Operations engineers</a:t>
            </a:r>
          </a:p>
        </p:txBody>
      </p:sp>
      <p:sp>
        <p:nvSpPr>
          <p:cNvPr id="7" name="row-description-2">
            <a:extLst xmlns:a="http://schemas.openxmlformats.org/drawingml/2006/main">
              <a:ext uri="{FF2B5EF4-FFF2-40B4-BE49-F238E27FC236}">
                <a16:creationId xmlns:a16="http://schemas.microsoft.com/office/drawing/2014/main" id="{78CA0528-04E8-4582-B920-9BDF22B91BDD}"/>
              </a:ext>
            </a:extLst>
          </p:cNvPr>
          <p:cNvSpPr>
            <a:spLocks xmlns:a="http://schemas.openxmlformats.org/drawingml/2006/main" noGrp="1"/>
          </p:cNvSpPr>
          <p:nvPr/>
        </p:nvSpPr>
        <p:spPr>
          <a:xfrm xmlns:a="http://schemas.openxmlformats.org/drawingml/2006/main">
            <a:off x="4095750" y="435292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Inspect the implementation and test a limited namespace integration in a deliberate test environment.</a:t>
            </a:r>
          </a:p>
        </p:txBody>
      </p:sp>
      <p:sp>
        <p:nvSpPr>
          <p:cNvPr id="8" name="page-number">
            <a:extLst xmlns:a="http://schemas.openxmlformats.org/drawingml/2006/main">
              <a:ext uri="{FF2B5EF4-FFF2-40B4-BE49-F238E27FC236}">
                <a16:creationId xmlns:a16="http://schemas.microsoft.com/office/drawing/2014/main" id="{6B5E0460-DF43-4D28-BC6B-B0ADB0044A61}"/>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06 / 25</a:t>
            </a:r>
          </a:p>
        </p:txBody>
      </p:sp>
    </p:spTree>
    <p:extLst>
      <p:ext uri="{BB962C8B-B14F-4D97-AF65-F5344CB8AC3E}">
        <p14:creationId xmlns:p14="http://schemas.microsoft.com/office/powerpoint/2010/main" val="492528544"/>
      </p:ext>
    </p:extLst>
  </p:cSld>
</p:sld>
</file>

<file path=ppt/slides/slide7.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83C5A3F2-FD02-4EA9-B024-0B301967E3D0}"/>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The main building blocks</a:t>
            </a:r>
          </a:p>
        </p:txBody>
      </p:sp>
      <p:sp>
        <p:nvSpPr>
          <p:cNvPr id="2" name="row-label-0">
            <a:extLst xmlns:a="http://schemas.openxmlformats.org/drawingml/2006/main">
              <a:ext uri="{FF2B5EF4-FFF2-40B4-BE49-F238E27FC236}">
                <a16:creationId xmlns:a16="http://schemas.microsoft.com/office/drawing/2014/main" id="{F83423AA-8A91-45FA-A7C8-595285AC5619}"/>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Dashboard</a:t>
            </a:r>
          </a:p>
        </p:txBody>
      </p:sp>
      <p:sp>
        <p:nvSpPr>
          <p:cNvPr id="3" name="row-description-0">
            <a:extLst xmlns:a="http://schemas.openxmlformats.org/drawingml/2006/main">
              <a:ext uri="{FF2B5EF4-FFF2-40B4-BE49-F238E27FC236}">
                <a16:creationId xmlns:a16="http://schemas.microsoft.com/office/drawing/2014/main" id="{434E3730-3621-4989-96C9-F23736288358}"/>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The React interface where people inspect resources, incidents and decisions.</a:t>
            </a:r>
          </a:p>
        </p:txBody>
      </p:sp>
      <p:sp>
        <p:nvSpPr>
          <p:cNvPr id="4" name="row-label-1">
            <a:extLst xmlns:a="http://schemas.openxmlformats.org/drawingml/2006/main">
              <a:ext uri="{FF2B5EF4-FFF2-40B4-BE49-F238E27FC236}">
                <a16:creationId xmlns:a16="http://schemas.microsoft.com/office/drawing/2014/main" id="{4538B93B-7C8C-44B3-B9BE-31E8C29EA646}"/>
              </a:ext>
            </a:extLst>
          </p:cNvPr>
          <p:cNvSpPr>
            <a:spLocks xmlns:a="http://schemas.openxmlformats.org/drawingml/2006/main" noGrp="1"/>
          </p:cNvSpPr>
          <p:nvPr/>
        </p:nvSpPr>
        <p:spPr>
          <a:xfrm xmlns:a="http://schemas.openxmlformats.org/drawingml/2006/main">
            <a:off x="628650" y="28098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Backend and storage</a:t>
            </a:r>
          </a:p>
        </p:txBody>
      </p:sp>
      <p:sp>
        <p:nvSpPr>
          <p:cNvPr id="5" name="row-description-1">
            <a:extLst xmlns:a="http://schemas.openxmlformats.org/drawingml/2006/main">
              <a:ext uri="{FF2B5EF4-FFF2-40B4-BE49-F238E27FC236}">
                <a16:creationId xmlns:a16="http://schemas.microsoft.com/office/drawing/2014/main" id="{96440A22-B583-4620-9CF9-DD08EC9BD3DF}"/>
              </a:ext>
            </a:extLst>
          </p:cNvPr>
          <p:cNvSpPr>
            <a:spLocks xmlns:a="http://schemas.openxmlformats.org/drawingml/2006/main" noGrp="1"/>
          </p:cNvSpPr>
          <p:nvPr/>
        </p:nvSpPr>
        <p:spPr>
          <a:xfrm xmlns:a="http://schemas.openxmlformats.org/drawingml/2006/main">
            <a:off x="4095750" y="28098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FastAPI coordinates the workflow. SQLite or MongoDB keeps records in the local system.</a:t>
            </a:r>
          </a:p>
        </p:txBody>
      </p:sp>
      <p:sp>
        <p:nvSpPr>
          <p:cNvPr id="6" name="row-label-2">
            <a:extLst xmlns:a="http://schemas.openxmlformats.org/drawingml/2006/main">
              <a:ext uri="{FF2B5EF4-FFF2-40B4-BE49-F238E27FC236}">
                <a16:creationId xmlns:a16="http://schemas.microsoft.com/office/drawing/2014/main" id="{7EFC0ABD-4296-4FE1-81D8-39335693608F}"/>
              </a:ext>
            </a:extLst>
          </p:cNvPr>
          <p:cNvSpPr>
            <a:spLocks xmlns:a="http://schemas.openxmlformats.org/drawingml/2006/main" noGrp="1"/>
          </p:cNvSpPr>
          <p:nvPr/>
        </p:nvSpPr>
        <p:spPr>
          <a:xfrm xmlns:a="http://schemas.openxmlformats.org/drawingml/2006/main">
            <a:off x="628650" y="38766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Detection service</a:t>
            </a:r>
          </a:p>
        </p:txBody>
      </p:sp>
      <p:sp>
        <p:nvSpPr>
          <p:cNvPr id="7" name="row-description-2">
            <a:extLst xmlns:a="http://schemas.openxmlformats.org/drawingml/2006/main">
              <a:ext uri="{FF2B5EF4-FFF2-40B4-BE49-F238E27FC236}">
                <a16:creationId xmlns:a16="http://schemas.microsoft.com/office/drawing/2014/main" id="{5EDB8120-8714-4031-B527-D8A9B4F31935}"/>
              </a:ext>
            </a:extLst>
          </p:cNvPr>
          <p:cNvSpPr>
            <a:spLocks xmlns:a="http://schemas.openxmlformats.org/drawingml/2006/main" noGrp="1"/>
          </p:cNvSpPr>
          <p:nvPr/>
        </p:nvSpPr>
        <p:spPr>
          <a:xfrm xmlns:a="http://schemas.openxmlformats.org/drawingml/2006/main">
            <a:off x="4095750" y="38766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 trained Isolation Forest can inspect complete metric inputs. Transparent rules provide guards and fallback.</a:t>
            </a:r>
          </a:p>
        </p:txBody>
      </p:sp>
      <p:sp>
        <p:nvSpPr>
          <p:cNvPr id="8" name="row-label-3">
            <a:extLst xmlns:a="http://schemas.openxmlformats.org/drawingml/2006/main">
              <a:ext uri="{FF2B5EF4-FFF2-40B4-BE49-F238E27FC236}">
                <a16:creationId xmlns:a16="http://schemas.microsoft.com/office/drawing/2014/main" id="{DDA84E74-038A-41C9-AC2C-F50D6A45BF4E}"/>
              </a:ext>
            </a:extLst>
          </p:cNvPr>
          <p:cNvSpPr>
            <a:spLocks xmlns:a="http://schemas.openxmlformats.org/drawingml/2006/main" noGrp="1"/>
          </p:cNvSpPr>
          <p:nvPr/>
        </p:nvSpPr>
        <p:spPr>
          <a:xfrm xmlns:a="http://schemas.openxmlformats.org/drawingml/2006/main">
            <a:off x="628650" y="49434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Kubernetes adapter</a:t>
            </a:r>
          </a:p>
        </p:txBody>
      </p:sp>
      <p:sp>
        <p:nvSpPr>
          <p:cNvPr id="9" name="row-description-3">
            <a:extLst xmlns:a="http://schemas.openxmlformats.org/drawingml/2006/main">
              <a:ext uri="{FF2B5EF4-FFF2-40B4-BE49-F238E27FC236}">
                <a16:creationId xmlns:a16="http://schemas.microsoft.com/office/drawing/2014/main" id="{43F34D8C-A8A4-4624-9990-3C43E98DD012}"/>
              </a:ext>
            </a:extLst>
          </p:cNvPr>
          <p:cNvSpPr>
            <a:spLocks xmlns:a="http://schemas.openxmlformats.org/drawingml/2006/main" noGrp="1"/>
          </p:cNvSpPr>
          <p:nvPr/>
        </p:nvSpPr>
        <p:spPr>
          <a:xfrm xmlns:a="http://schemas.openxmlformats.org/drawingml/2006/main">
            <a:off x="4095750" y="49434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 restricted adapter and opt-in controller attribute evidence to exact workloads, then apply bounded runbooks.</a:t>
            </a:r>
          </a:p>
        </p:txBody>
      </p:sp>
      <p:sp>
        <p:nvSpPr>
          <p:cNvPr id="10" name="page-number">
            <a:extLst xmlns:a="http://schemas.openxmlformats.org/drawingml/2006/main">
              <a:ext uri="{FF2B5EF4-FFF2-40B4-BE49-F238E27FC236}">
                <a16:creationId xmlns:a16="http://schemas.microsoft.com/office/drawing/2014/main" id="{45641063-A1A3-4D8A-885D-0D4E9D3994E2}"/>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07 / 25</a:t>
            </a:r>
          </a:p>
        </p:txBody>
      </p:sp>
    </p:spTree>
    <p:extLst>
      <p:ext uri="{BB962C8B-B14F-4D97-AF65-F5344CB8AC3E}">
        <p14:creationId xmlns:p14="http://schemas.microsoft.com/office/powerpoint/2010/main" val="1041402804"/>
      </p:ext>
    </p:extLst>
  </p:cSld>
</p:sld>
</file>

<file path=ppt/slides/slide8.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344D267A-0D62-4DD6-9AD2-C8C0209F1FBB}"/>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The response workflow</a:t>
            </a:r>
          </a:p>
        </p:txBody>
      </p:sp>
      <p:sp>
        <p:nvSpPr>
          <p:cNvPr id="2" name="step-number-0">
            <a:extLst xmlns:a="http://schemas.openxmlformats.org/drawingml/2006/main">
              <a:ext uri="{FF2B5EF4-FFF2-40B4-BE49-F238E27FC236}">
                <a16:creationId xmlns:a16="http://schemas.microsoft.com/office/drawing/2014/main" id="{AAB93394-0AD6-4EE9-9344-2E2575CB48D7}"/>
              </a:ext>
            </a:extLst>
          </p:cNvPr>
          <p:cNvSpPr>
            <a:spLocks xmlns:a="http://schemas.openxmlformats.org/drawingml/2006/main" noGrp="1"/>
          </p:cNvSpPr>
          <p:nvPr/>
        </p:nvSpPr>
        <p:spPr>
          <a:xfrm xmlns:a="http://schemas.openxmlformats.org/drawingml/2006/main">
            <a:off x="628650" y="17430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01</a:t>
            </a:r>
          </a:p>
        </p:txBody>
      </p:sp>
      <p:sp>
        <p:nvSpPr>
          <p:cNvPr id="3" name="step-title-0">
            <a:extLst xmlns:a="http://schemas.openxmlformats.org/drawingml/2006/main">
              <a:ext uri="{FF2B5EF4-FFF2-40B4-BE49-F238E27FC236}">
                <a16:creationId xmlns:a16="http://schemas.microsoft.com/office/drawing/2014/main" id="{421927C1-2C3B-4C3D-BE5E-9CF9B1EFB7AD}"/>
              </a:ext>
            </a:extLst>
          </p:cNvPr>
          <p:cNvSpPr>
            <a:spLocks xmlns:a="http://schemas.openxmlformats.org/drawingml/2006/main" noGrp="1"/>
          </p:cNvSpPr>
          <p:nvPr/>
        </p:nvSpPr>
        <p:spPr>
          <a:xfrm xmlns:a="http://schemas.openxmlformats.org/drawingml/2006/main">
            <a:off x="1504950" y="17430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Observe</a:t>
            </a:r>
          </a:p>
        </p:txBody>
      </p:sp>
      <p:sp>
        <p:nvSpPr>
          <p:cNvPr id="4" name="step-description-0">
            <a:extLst xmlns:a="http://schemas.openxmlformats.org/drawingml/2006/main">
              <a:ext uri="{FF2B5EF4-FFF2-40B4-BE49-F238E27FC236}">
                <a16:creationId xmlns:a16="http://schemas.microsoft.com/office/drawing/2014/main" id="{C8955580-2C9A-419C-84DD-A045B5BEFA9B}"/>
              </a:ext>
            </a:extLst>
          </p:cNvPr>
          <p:cNvSpPr>
            <a:spLocks xmlns:a="http://schemas.openxmlformats.org/drawingml/2006/main" noGrp="1"/>
          </p:cNvSpPr>
          <p:nvPr/>
        </p:nvSpPr>
        <p:spPr>
          <a:xfrm xmlns:a="http://schemas.openxmlformats.org/drawingml/2006/main">
            <a:off x="4552950" y="17430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Collect processor use, memory, restart counts and latency where available.</a:t>
            </a:r>
          </a:p>
        </p:txBody>
      </p:sp>
      <p:sp>
        <p:nvSpPr>
          <p:cNvPr id="5" name="step-number-1">
            <a:extLst xmlns:a="http://schemas.openxmlformats.org/drawingml/2006/main">
              <a:ext uri="{FF2B5EF4-FFF2-40B4-BE49-F238E27FC236}">
                <a16:creationId xmlns:a16="http://schemas.microsoft.com/office/drawing/2014/main" id="{ADB00834-FCD4-4856-A7B3-520329520B17}"/>
              </a:ext>
            </a:extLst>
          </p:cNvPr>
          <p:cNvSpPr>
            <a:spLocks xmlns:a="http://schemas.openxmlformats.org/drawingml/2006/main" noGrp="1"/>
          </p:cNvSpPr>
          <p:nvPr/>
        </p:nvSpPr>
        <p:spPr>
          <a:xfrm xmlns:a="http://schemas.openxmlformats.org/drawingml/2006/main">
            <a:off x="628650" y="28098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02</a:t>
            </a:r>
          </a:p>
        </p:txBody>
      </p:sp>
      <p:sp>
        <p:nvSpPr>
          <p:cNvPr id="6" name="step-title-1">
            <a:extLst xmlns:a="http://schemas.openxmlformats.org/drawingml/2006/main">
              <a:ext uri="{FF2B5EF4-FFF2-40B4-BE49-F238E27FC236}">
                <a16:creationId xmlns:a16="http://schemas.microsoft.com/office/drawing/2014/main" id="{9BD36A28-4FFB-4952-995D-8DC4145145C2}"/>
              </a:ext>
            </a:extLst>
          </p:cNvPr>
          <p:cNvSpPr>
            <a:spLocks xmlns:a="http://schemas.openxmlformats.org/drawingml/2006/main" noGrp="1"/>
          </p:cNvSpPr>
          <p:nvPr/>
        </p:nvSpPr>
        <p:spPr>
          <a:xfrm xmlns:a="http://schemas.openxmlformats.org/drawingml/2006/main">
            <a:off x="1504950" y="28098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Detect and explain</a:t>
            </a:r>
          </a:p>
        </p:txBody>
      </p:sp>
      <p:sp>
        <p:nvSpPr>
          <p:cNvPr id="7" name="step-description-1">
            <a:extLst xmlns:a="http://schemas.openxmlformats.org/drawingml/2006/main">
              <a:ext uri="{FF2B5EF4-FFF2-40B4-BE49-F238E27FC236}">
                <a16:creationId xmlns:a16="http://schemas.microsoft.com/office/drawing/2014/main" id="{88FCD09B-52EB-4EAA-8A83-05890C09FBAF}"/>
              </a:ext>
            </a:extLst>
          </p:cNvPr>
          <p:cNvSpPr>
            <a:spLocks xmlns:a="http://schemas.openxmlformats.org/drawingml/2006/main" noGrp="1"/>
          </p:cNvSpPr>
          <p:nvPr/>
        </p:nvSpPr>
        <p:spPr>
          <a:xfrm xmlns:a="http://schemas.openxmlformats.org/drawingml/2006/main">
            <a:off x="4552950" y="28098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Apply a trained detector or labelled rules and show the supporting measurements.</a:t>
            </a:r>
          </a:p>
        </p:txBody>
      </p:sp>
      <p:sp>
        <p:nvSpPr>
          <p:cNvPr id="8" name="step-number-2">
            <a:extLst xmlns:a="http://schemas.openxmlformats.org/drawingml/2006/main">
              <a:ext uri="{FF2B5EF4-FFF2-40B4-BE49-F238E27FC236}">
                <a16:creationId xmlns:a16="http://schemas.microsoft.com/office/drawing/2014/main" id="{5784FEBB-9D01-4582-AD7D-E795E9C337A3}"/>
              </a:ext>
            </a:extLst>
          </p:cNvPr>
          <p:cNvSpPr>
            <a:spLocks xmlns:a="http://schemas.openxmlformats.org/drawingml/2006/main" noGrp="1"/>
          </p:cNvSpPr>
          <p:nvPr/>
        </p:nvSpPr>
        <p:spPr>
          <a:xfrm xmlns:a="http://schemas.openxmlformats.org/drawingml/2006/main">
            <a:off x="628650" y="38766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03</a:t>
            </a:r>
          </a:p>
        </p:txBody>
      </p:sp>
      <p:sp>
        <p:nvSpPr>
          <p:cNvPr id="9" name="step-title-2">
            <a:extLst xmlns:a="http://schemas.openxmlformats.org/drawingml/2006/main">
              <a:ext uri="{FF2B5EF4-FFF2-40B4-BE49-F238E27FC236}">
                <a16:creationId xmlns:a16="http://schemas.microsoft.com/office/drawing/2014/main" id="{C6F2D2A7-49D2-4585-96A3-099317BC8265}"/>
              </a:ext>
            </a:extLst>
          </p:cNvPr>
          <p:cNvSpPr>
            <a:spLocks xmlns:a="http://schemas.openxmlformats.org/drawingml/2006/main" noGrp="1"/>
          </p:cNvSpPr>
          <p:nvPr/>
        </p:nvSpPr>
        <p:spPr>
          <a:xfrm xmlns:a="http://schemas.openxmlformats.org/drawingml/2006/main">
            <a:off x="1504950" y="38766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Apply the chosen policy</a:t>
            </a:r>
          </a:p>
        </p:txBody>
      </p:sp>
      <p:sp>
        <p:nvSpPr>
          <p:cNvPr id="10" name="step-description-2">
            <a:extLst xmlns:a="http://schemas.openxmlformats.org/drawingml/2006/main">
              <a:ext uri="{FF2B5EF4-FFF2-40B4-BE49-F238E27FC236}">
                <a16:creationId xmlns:a16="http://schemas.microsoft.com/office/drawing/2014/main" id="{17C38F33-339E-4691-9F13-54600F3F6DA9}"/>
              </a:ext>
            </a:extLst>
          </p:cNvPr>
          <p:cNvSpPr>
            <a:spLocks xmlns:a="http://schemas.openxmlformats.org/drawingml/2006/main" noGrp="1"/>
          </p:cNvSpPr>
          <p:nvPr/>
        </p:nvSpPr>
        <p:spPr>
          <a:xfrm xmlns:a="http://schemas.openxmlformats.org/drawingml/2006/main">
            <a:off x="4552950" y="38766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An operator approves a manual action, or confirmed workload evidence authorizes an enabled runbook.</a:t>
            </a:r>
          </a:p>
        </p:txBody>
      </p:sp>
      <p:sp>
        <p:nvSpPr>
          <p:cNvPr id="11" name="step-number-3">
            <a:extLst xmlns:a="http://schemas.openxmlformats.org/drawingml/2006/main">
              <a:ext uri="{FF2B5EF4-FFF2-40B4-BE49-F238E27FC236}">
                <a16:creationId xmlns:a16="http://schemas.microsoft.com/office/drawing/2014/main" id="{3DDAC693-B272-4BC3-8235-542AE4891F2F}"/>
              </a:ext>
            </a:extLst>
          </p:cNvPr>
          <p:cNvSpPr>
            <a:spLocks xmlns:a="http://schemas.openxmlformats.org/drawingml/2006/main" noGrp="1"/>
          </p:cNvSpPr>
          <p:nvPr/>
        </p:nvSpPr>
        <p:spPr>
          <a:xfrm xmlns:a="http://schemas.openxmlformats.org/drawingml/2006/main">
            <a:off x="628650" y="49434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04</a:t>
            </a:r>
          </a:p>
        </p:txBody>
      </p:sp>
      <p:sp>
        <p:nvSpPr>
          <p:cNvPr id="12" name="step-title-3">
            <a:extLst xmlns:a="http://schemas.openxmlformats.org/drawingml/2006/main">
              <a:ext uri="{FF2B5EF4-FFF2-40B4-BE49-F238E27FC236}">
                <a16:creationId xmlns:a16="http://schemas.microsoft.com/office/drawing/2014/main" id="{42C4019D-077F-4412-B3CA-09E01A7687BE}"/>
              </a:ext>
            </a:extLst>
          </p:cNvPr>
          <p:cNvSpPr>
            <a:spLocks xmlns:a="http://schemas.openxmlformats.org/drawingml/2006/main" noGrp="1"/>
          </p:cNvSpPr>
          <p:nvPr/>
        </p:nvSpPr>
        <p:spPr>
          <a:xfrm xmlns:a="http://schemas.openxmlformats.org/drawingml/2006/main">
            <a:off x="1504950" y="49434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Act and verify</a:t>
            </a:r>
          </a:p>
        </p:txBody>
      </p:sp>
      <p:sp>
        <p:nvSpPr>
          <p:cNvPr id="13" name="step-description-3">
            <a:extLst xmlns:a="http://schemas.openxmlformats.org/drawingml/2006/main">
              <a:ext uri="{FF2B5EF4-FFF2-40B4-BE49-F238E27FC236}">
                <a16:creationId xmlns:a16="http://schemas.microsoft.com/office/drawing/2014/main" id="{14C4DD95-0B1B-4CFE-A9EB-E1CE619F0F03}"/>
              </a:ext>
            </a:extLst>
          </p:cNvPr>
          <p:cNvSpPr>
            <a:spLocks xmlns:a="http://schemas.openxmlformats.org/drawingml/2006/main" noGrp="1"/>
          </p:cNvSpPr>
          <p:nvPr/>
        </p:nvSpPr>
        <p:spPr>
          <a:xfrm xmlns:a="http://schemas.openxmlformats.org/drawingml/2006/main">
            <a:off x="4552950" y="49434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Enforce policy checks, execute the permitted action and record the result and health observations.</a:t>
            </a:r>
          </a:p>
        </p:txBody>
      </p:sp>
      <p:sp>
        <p:nvSpPr>
          <p:cNvPr id="14" name="page-number">
            <a:extLst xmlns:a="http://schemas.openxmlformats.org/drawingml/2006/main">
              <a:ext uri="{FF2B5EF4-FFF2-40B4-BE49-F238E27FC236}">
                <a16:creationId xmlns:a16="http://schemas.microsoft.com/office/drawing/2014/main" id="{AE7038E8-C701-47C0-AF7A-199FB288DC9C}"/>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08 / 25</a:t>
            </a:r>
          </a:p>
        </p:txBody>
      </p:sp>
    </p:spTree>
    <p:extLst>
      <p:ext uri="{BB962C8B-B14F-4D97-AF65-F5344CB8AC3E}">
        <p14:creationId xmlns:p14="http://schemas.microsoft.com/office/powerpoint/2010/main" val="782387483"/>
      </p:ext>
    </p:extLst>
  </p:cSld>
</p:sld>
</file>

<file path=ppt/slides/slide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233E169-FFA3-4798-861D-DC2A526F8105}"/>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A shared view of application health</a:t>
            </a:r>
          </a:p>
        </p:txBody>
      </p:sp>
      <p:pic>
        <p:nvPicPr>
          <p:cNvPr id="2" name="">
            <a:extLst xmlns:a="http://schemas.openxmlformats.org/drawingml/2006/main">
              <a:ext uri="{FF2B5EF4-FFF2-40B4-BE49-F238E27FC236}">
                <a16:creationId xmlns:a16="http://schemas.microsoft.com/office/drawing/2014/main" id="{4876E644-676E-4B5B-810D-DEF12D40671E}"/>
              </a:ext>
            </a:extLst>
          </p:cNvPr>
          <p:cNvPicPr>
            <a:picLocks xmlns:a="http://schemas.openxmlformats.org/drawingml/2006/main" noChangeAspect="1"/>
          </p:cNvPicPr>
          <p:nvPr/>
        </p:nvPicPr>
        <p:blipFill>
          <a:blip xmlns:r="http://schemas.openxmlformats.org/officeDocument/2006/relationships" xmlns:a="http://schemas.openxmlformats.org/drawingml/2006/main" r:embed="R518563300cee4f2e"/>
          <a:srcRect xmlns:a="http://schemas.openxmlformats.org/drawingml/2006/main" l="0" t="0" r="0" b="45000"/>
          <a:stretch xmlns:a="http://schemas.openxmlformats.org/drawingml/2006/main"/>
        </p:blipFill>
        <p:spPr>
          <a:xfrm xmlns:a="http://schemas.openxmlformats.org/drawingml/2006/main">
            <a:off x="609600" y="1495425"/>
            <a:ext cx="7334250" cy="4572000"/>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E2373CF2-FB7B-4069-90EB-1226B4EE6000}"/>
              </a:ext>
            </a:extLst>
          </p:cNvPr>
          <p:cNvSpPr>
            <a:spLocks xmlns:a="http://schemas.openxmlformats.org/drawingml/2006/main" noGrp="1"/>
          </p:cNvSpPr>
          <p:nvPr/>
        </p:nvSpPr>
        <p:spPr>
          <a:xfrm xmlns:a="http://schemas.openxmlformats.org/drawingml/2006/main">
            <a:off x="8362950" y="1847850"/>
            <a:ext cx="31051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Actual project interface showing simulated telemetry. The demo label identifies the data source.</a:t>
            </a:r>
          </a:p>
        </p:txBody>
      </p:sp>
      <p:sp>
        <p:nvSpPr>
          <p:cNvPr id="4" name="image-context">
            <a:extLst xmlns:a="http://schemas.openxmlformats.org/drawingml/2006/main">
              <a:ext uri="{FF2B5EF4-FFF2-40B4-BE49-F238E27FC236}">
                <a16:creationId xmlns:a16="http://schemas.microsoft.com/office/drawing/2014/main" id="{FD0D4D2B-5157-4B62-B374-5318B7823DD9}"/>
              </a:ext>
            </a:extLst>
          </p:cNvPr>
          <p:cNvSpPr>
            <a:spLocks xmlns:a="http://schemas.openxmlformats.org/drawingml/2006/main" noGrp="1"/>
          </p:cNvSpPr>
          <p:nvPr/>
        </p:nvSpPr>
        <p:spPr>
          <a:xfrm xmlns:a="http://schemas.openxmlformats.org/drawingml/2006/main">
            <a:off x="8362950" y="4019550"/>
            <a:ext cx="310515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The source banner identifies simulated data. The interface keeps measurements and the recovery policy visible.</a:t>
            </a:r>
          </a:p>
        </p:txBody>
      </p:sp>
      <p:sp>
        <p:nvSpPr>
          <p:cNvPr id="5" name="page-number">
            <a:extLst xmlns:a="http://schemas.openxmlformats.org/drawingml/2006/main">
              <a:ext uri="{FF2B5EF4-FFF2-40B4-BE49-F238E27FC236}">
                <a16:creationId xmlns:a16="http://schemas.microsoft.com/office/drawing/2014/main" id="{B671E657-EDA6-4430-A78A-DEAE03343574}"/>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09 / 25</a:t>
            </a:r>
          </a:p>
        </p:txBody>
      </p:sp>
    </p:spTree>
    <p:extLst>
      <p:ext uri="{BB962C8B-B14F-4D97-AF65-F5344CB8AC3E}">
        <p14:creationId xmlns:p14="http://schemas.microsoft.com/office/powerpoint/2010/main" val="1195024046"/>
      </p:ext>
    </p:extLst>
  </p:cSld>
</p:sld>
</file>

<file path=ppt/slides/slide1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986BC52-8D77-420A-B4F0-6D6A024827B3}"/>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How detection works</a:t>
            </a:r>
          </a:p>
        </p:txBody>
      </p:sp>
      <p:sp>
        <p:nvSpPr>
          <p:cNvPr id="2" name="column-label-0">
            <a:extLst xmlns:a="http://schemas.openxmlformats.org/drawingml/2006/main">
              <a:ext uri="{FF2B5EF4-FFF2-40B4-BE49-F238E27FC236}">
                <a16:creationId xmlns:a16="http://schemas.microsoft.com/office/drawing/2014/main" id="{6AF9E70D-0A65-4F6F-9E87-7D4983FF861B}"/>
              </a:ext>
            </a:extLst>
          </p:cNvPr>
          <p:cNvSpPr>
            <a:spLocks xmlns:a="http://schemas.openxmlformats.org/drawingml/2006/main" noGrp="1"/>
          </p:cNvSpPr>
          <p:nvPr/>
        </p:nvSpPr>
        <p:spPr>
          <a:xfrm xmlns:a="http://schemas.openxmlformats.org/drawingml/2006/main">
            <a:off x="628650"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Unusual patterns</a:t>
            </a:r>
          </a:p>
        </p:txBody>
      </p:sp>
      <p:sp>
        <p:nvSpPr>
          <p:cNvPr id="3" name="column-body-0">
            <a:extLst xmlns:a="http://schemas.openxmlformats.org/drawingml/2006/main">
              <a:ext uri="{FF2B5EF4-FFF2-40B4-BE49-F238E27FC236}">
                <a16:creationId xmlns:a16="http://schemas.microsoft.com/office/drawing/2014/main" id="{BAE53135-7D9E-42DA-A4C5-7214E980C51C}"/>
              </a:ext>
            </a:extLst>
          </p:cNvPr>
          <p:cNvSpPr>
            <a:spLocks xmlns:a="http://schemas.openxmlformats.org/drawingml/2006/main" noGrp="1"/>
          </p:cNvSpPr>
          <p:nvPr/>
        </p:nvSpPr>
        <p:spPr>
          <a:xfrm xmlns:a="http://schemas.openxmlformats.org/drawingml/2006/main">
            <a:off x="628650"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The local AI service can load a StandardScaler and Isolation Forest trained on synthetic telemetry. The saved preprocessing stays with the model.</a:t>
            </a:r>
          </a:p>
        </p:txBody>
      </p:sp>
      <p:sp>
        <p:nvSpPr>
          <p:cNvPr id="4" name="column-label-1">
            <a:extLst xmlns:a="http://schemas.openxmlformats.org/drawingml/2006/main">
              <a:ext uri="{FF2B5EF4-FFF2-40B4-BE49-F238E27FC236}">
                <a16:creationId xmlns:a16="http://schemas.microsoft.com/office/drawing/2014/main" id="{AC8D28A4-F881-4063-A780-E592B2E58755}"/>
              </a:ext>
            </a:extLst>
          </p:cNvPr>
          <p:cNvSpPr>
            <a:spLocks xmlns:a="http://schemas.openxmlformats.org/drawingml/2006/main" noGrp="1"/>
          </p:cNvSpPr>
          <p:nvPr/>
        </p:nvSpPr>
        <p:spPr>
          <a:xfrm xmlns:a="http://schemas.openxmlformats.org/drawingml/2006/main">
            <a:off x="6505575"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Explainable thresholds</a:t>
            </a:r>
          </a:p>
        </p:txBody>
      </p:sp>
      <p:sp>
        <p:nvSpPr>
          <p:cNvPr id="5" name="column-body-1">
            <a:extLst xmlns:a="http://schemas.openxmlformats.org/drawingml/2006/main">
              <a:ext uri="{FF2B5EF4-FFF2-40B4-BE49-F238E27FC236}">
                <a16:creationId xmlns:a16="http://schemas.microsoft.com/office/drawing/2014/main" id="{22B1952F-891C-4AF3-9DBA-8AB9AAC4E13D}"/>
              </a:ext>
            </a:extLst>
          </p:cNvPr>
          <p:cNvSpPr>
            <a:spLocks xmlns:a="http://schemas.openxmlformats.org/drawingml/2006/main" noGrp="1"/>
          </p:cNvSpPr>
          <p:nvPr/>
        </p:nvSpPr>
        <p:spPr>
          <a:xfrm xmlns:a="http://schemas.openxmlformats.org/drawingml/2006/main">
            <a:off x="6505575"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Rules identify values above documented limits. Hybrid results show both the actual model decision and the rule that triggered. The public site uses browser rules only.</a:t>
            </a:r>
          </a:p>
        </p:txBody>
      </p:sp>
      <p:sp>
        <p:nvSpPr>
          <p:cNvPr id="6" name="page-number">
            <a:extLst xmlns:a="http://schemas.openxmlformats.org/drawingml/2006/main">
              <a:ext uri="{FF2B5EF4-FFF2-40B4-BE49-F238E27FC236}">
                <a16:creationId xmlns:a16="http://schemas.microsoft.com/office/drawing/2014/main" id="{95CD3C7E-2AF0-4AF7-9BCB-129DEE9FDA2C}"/>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10 / 25</a:t>
            </a:r>
          </a:p>
        </p:txBody>
      </p:sp>
    </p:spTree>
    <p:extLst>
      <p:ext uri="{BB962C8B-B14F-4D97-AF65-F5344CB8AC3E}">
        <p14:creationId xmlns:p14="http://schemas.microsoft.com/office/powerpoint/2010/main" val="1673350675"/>
      </p:ext>
    </p:extLst>
  </p:cSld>
</p:sld>
</file>

<file path=ppt/slides/slide1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ED6E8C8-D25D-405D-B8EE-3999D696962D}"/>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Anomaly detection and forecasting</a:t>
            </a:r>
          </a:p>
        </p:txBody>
      </p:sp>
      <p:sp>
        <p:nvSpPr>
          <p:cNvPr id="2" name="column-label-0">
            <a:extLst xmlns:a="http://schemas.openxmlformats.org/drawingml/2006/main">
              <a:ext uri="{FF2B5EF4-FFF2-40B4-BE49-F238E27FC236}">
                <a16:creationId xmlns:a16="http://schemas.microsoft.com/office/drawing/2014/main" id="{0D114B56-ACBC-419F-B844-97692025A9B5}"/>
              </a:ext>
            </a:extLst>
          </p:cNvPr>
          <p:cNvSpPr>
            <a:spLocks xmlns:a="http://schemas.openxmlformats.org/drawingml/2006/main" noGrp="1"/>
          </p:cNvSpPr>
          <p:nvPr/>
        </p:nvSpPr>
        <p:spPr>
          <a:xfrm xmlns:a="http://schemas.openxmlformats.org/drawingml/2006/main">
            <a:off x="628650"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Anomaly detection</a:t>
            </a:r>
          </a:p>
        </p:txBody>
      </p:sp>
      <p:sp>
        <p:nvSpPr>
          <p:cNvPr id="3" name="column-body-0">
            <a:extLst xmlns:a="http://schemas.openxmlformats.org/drawingml/2006/main">
              <a:ext uri="{FF2B5EF4-FFF2-40B4-BE49-F238E27FC236}">
                <a16:creationId xmlns:a16="http://schemas.microsoft.com/office/drawing/2014/main" id="{357E7D87-B814-44BE-AE8D-1F1DAD9EDD5F}"/>
              </a:ext>
            </a:extLst>
          </p:cNvPr>
          <p:cNvSpPr>
            <a:spLocks xmlns:a="http://schemas.openxmlformats.org/drawingml/2006/main" noGrp="1"/>
          </p:cNvSpPr>
          <p:nvPr/>
        </p:nvSpPr>
        <p:spPr>
          <a:xfrm xmlns:a="http://schemas.openxmlformats.org/drawingml/2006/main">
            <a:off x="628650"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Question: does this measurement look unusual now?</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Output: a decision score or a rule explanation, with severity and observations.</a:t>
            </a:r>
          </a:p>
        </p:txBody>
      </p:sp>
      <p:sp>
        <p:nvSpPr>
          <p:cNvPr id="4" name="column-label-1">
            <a:extLst xmlns:a="http://schemas.openxmlformats.org/drawingml/2006/main">
              <a:ext uri="{FF2B5EF4-FFF2-40B4-BE49-F238E27FC236}">
                <a16:creationId xmlns:a16="http://schemas.microsoft.com/office/drawing/2014/main" id="{2A7D36F3-73C1-4FE4-830E-D91E426B1587}"/>
              </a:ext>
            </a:extLst>
          </p:cNvPr>
          <p:cNvSpPr>
            <a:spLocks xmlns:a="http://schemas.openxmlformats.org/drawingml/2006/main" noGrp="1"/>
          </p:cNvSpPr>
          <p:nvPr/>
        </p:nvSpPr>
        <p:spPr>
          <a:xfrm xmlns:a="http://schemas.openxmlformats.org/drawingml/2006/main">
            <a:off x="6505575"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Metric forecasting</a:t>
            </a:r>
          </a:p>
        </p:txBody>
      </p:sp>
      <p:sp>
        <p:nvSpPr>
          <p:cNvPr id="5" name="column-body-1">
            <a:extLst xmlns:a="http://schemas.openxmlformats.org/drawingml/2006/main">
              <a:ext uri="{FF2B5EF4-FFF2-40B4-BE49-F238E27FC236}">
                <a16:creationId xmlns:a16="http://schemas.microsoft.com/office/drawing/2014/main" id="{1323EEBC-812D-4336-BF61-80015980A4DC}"/>
              </a:ext>
            </a:extLst>
          </p:cNvPr>
          <p:cNvSpPr>
            <a:spLocks xmlns:a="http://schemas.openxmlformats.org/drawingml/2006/main" noGrp="1"/>
          </p:cNvSpPr>
          <p:nvPr/>
        </p:nvSpPr>
        <p:spPr>
          <a:xfrm xmlns:a="http://schemas.openxmlformats.org/drawingml/2006/main">
            <a:off x="6505575"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Question: what might CPU or memory look like one sample ahead?</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Output: a trend or last-value estimate evaluated in chronological order.</a:t>
            </a:r>
          </a:p>
        </p:txBody>
      </p:sp>
      <p:sp>
        <p:nvSpPr>
          <p:cNvPr id="6" name="page-number">
            <a:extLst xmlns:a="http://schemas.openxmlformats.org/drawingml/2006/main">
              <a:ext uri="{FF2B5EF4-FFF2-40B4-BE49-F238E27FC236}">
                <a16:creationId xmlns:a16="http://schemas.microsoft.com/office/drawing/2014/main" id="{4784A0B4-DE00-4DE3-B3B7-D3984CFC5013}"/>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11 / 25</a:t>
            </a:r>
          </a:p>
        </p:txBody>
      </p:sp>
    </p:spTree>
    <p:extLst>
      <p:ext uri="{BB962C8B-B14F-4D97-AF65-F5344CB8AC3E}">
        <p14:creationId xmlns:p14="http://schemas.microsoft.com/office/powerpoint/2010/main" val="681183767"/>
      </p:ext>
    </p:extLst>
  </p:cSld>
</p:sld>
</file>

<file path=ppt/slides/slide12.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1C744915-D7B1-4363-9F55-2670C6F3ED65}"/>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A manual CPU-spike example</a:t>
            </a:r>
          </a:p>
        </p:txBody>
      </p:sp>
      <p:sp>
        <p:nvSpPr>
          <p:cNvPr id="2" name="step-number-0">
            <a:extLst xmlns:a="http://schemas.openxmlformats.org/drawingml/2006/main">
              <a:ext uri="{FF2B5EF4-FFF2-40B4-BE49-F238E27FC236}">
                <a16:creationId xmlns:a16="http://schemas.microsoft.com/office/drawing/2014/main" id="{E87E16DD-B4F6-41A5-97D1-092CFED78AF1}"/>
              </a:ext>
            </a:extLst>
          </p:cNvPr>
          <p:cNvSpPr>
            <a:spLocks xmlns:a="http://schemas.openxmlformats.org/drawingml/2006/main" noGrp="1"/>
          </p:cNvSpPr>
          <p:nvPr/>
        </p:nvSpPr>
        <p:spPr>
          <a:xfrm xmlns:a="http://schemas.openxmlformats.org/drawingml/2006/main">
            <a:off x="628650" y="17430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01</a:t>
            </a:r>
          </a:p>
        </p:txBody>
      </p:sp>
      <p:sp>
        <p:nvSpPr>
          <p:cNvPr id="3" name="step-title-0">
            <a:extLst xmlns:a="http://schemas.openxmlformats.org/drawingml/2006/main">
              <a:ext uri="{FF2B5EF4-FFF2-40B4-BE49-F238E27FC236}">
                <a16:creationId xmlns:a16="http://schemas.microsoft.com/office/drawing/2014/main" id="{49A403EF-9601-4717-B144-C48629C0424B}"/>
              </a:ext>
            </a:extLst>
          </p:cNvPr>
          <p:cNvSpPr>
            <a:spLocks xmlns:a="http://schemas.openxmlformats.org/drawingml/2006/main" noGrp="1"/>
          </p:cNvSpPr>
          <p:nvPr/>
        </p:nvSpPr>
        <p:spPr>
          <a:xfrm xmlns:a="http://schemas.openxmlformats.org/drawingml/2006/main">
            <a:off x="1504950" y="17430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Inject a demo fault</a:t>
            </a:r>
          </a:p>
        </p:txBody>
      </p:sp>
      <p:sp>
        <p:nvSpPr>
          <p:cNvPr id="4" name="step-description-0">
            <a:extLst xmlns:a="http://schemas.openxmlformats.org/drawingml/2006/main">
              <a:ext uri="{FF2B5EF4-FFF2-40B4-BE49-F238E27FC236}">
                <a16:creationId xmlns:a16="http://schemas.microsoft.com/office/drawing/2014/main" id="{1315C448-5B6C-45C1-954E-F1DEA3567477}"/>
              </a:ext>
            </a:extLst>
          </p:cNvPr>
          <p:cNvSpPr>
            <a:spLocks xmlns:a="http://schemas.openxmlformats.org/drawingml/2006/main" noGrp="1"/>
          </p:cNvSpPr>
          <p:nvPr/>
        </p:nvSpPr>
        <p:spPr>
          <a:xfrm xmlns:a="http://schemas.openxmlformats.org/drawingml/2006/main">
            <a:off x="4552950" y="17430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The scenario sets simulated CPU utilization to 96%.</a:t>
            </a:r>
          </a:p>
        </p:txBody>
      </p:sp>
      <p:sp>
        <p:nvSpPr>
          <p:cNvPr id="5" name="step-number-1">
            <a:extLst xmlns:a="http://schemas.openxmlformats.org/drawingml/2006/main">
              <a:ext uri="{FF2B5EF4-FFF2-40B4-BE49-F238E27FC236}">
                <a16:creationId xmlns:a16="http://schemas.microsoft.com/office/drawing/2014/main" id="{5343277C-EBE9-4FF8-9AAF-E096CC162609}"/>
              </a:ext>
            </a:extLst>
          </p:cNvPr>
          <p:cNvSpPr>
            <a:spLocks xmlns:a="http://schemas.openxmlformats.org/drawingml/2006/main" noGrp="1"/>
          </p:cNvSpPr>
          <p:nvPr/>
        </p:nvSpPr>
        <p:spPr>
          <a:xfrm xmlns:a="http://schemas.openxmlformats.org/drawingml/2006/main">
            <a:off x="628650" y="28098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02</a:t>
            </a:r>
          </a:p>
        </p:txBody>
      </p:sp>
      <p:sp>
        <p:nvSpPr>
          <p:cNvPr id="6" name="step-title-1">
            <a:extLst xmlns:a="http://schemas.openxmlformats.org/drawingml/2006/main">
              <a:ext uri="{FF2B5EF4-FFF2-40B4-BE49-F238E27FC236}">
                <a16:creationId xmlns:a16="http://schemas.microsoft.com/office/drawing/2014/main" id="{CA965BC7-616E-4476-9848-937F5F172ADB}"/>
              </a:ext>
            </a:extLst>
          </p:cNvPr>
          <p:cNvSpPr>
            <a:spLocks xmlns:a="http://schemas.openxmlformats.org/drawingml/2006/main" noGrp="1"/>
          </p:cNvSpPr>
          <p:nvPr/>
        </p:nvSpPr>
        <p:spPr>
          <a:xfrm xmlns:a="http://schemas.openxmlformats.org/drawingml/2006/main">
            <a:off x="1504950" y="28098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Inspect the evidence</a:t>
            </a:r>
          </a:p>
        </p:txBody>
      </p:sp>
      <p:sp>
        <p:nvSpPr>
          <p:cNvPr id="7" name="step-description-1">
            <a:extLst xmlns:a="http://schemas.openxmlformats.org/drawingml/2006/main">
              <a:ext uri="{FF2B5EF4-FFF2-40B4-BE49-F238E27FC236}">
                <a16:creationId xmlns:a16="http://schemas.microsoft.com/office/drawing/2014/main" id="{5BA8D5D2-548C-4994-B164-4FE7D7C80176}"/>
              </a:ext>
            </a:extLst>
          </p:cNvPr>
          <p:cNvSpPr>
            <a:spLocks xmlns:a="http://schemas.openxmlformats.org/drawingml/2006/main" noGrp="1"/>
          </p:cNvSpPr>
          <p:nvPr/>
        </p:nvSpPr>
        <p:spPr>
          <a:xfrm xmlns:a="http://schemas.openxmlformats.org/drawingml/2006/main">
            <a:off x="4552950" y="28098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 rule explains why the measurement exceeds its threshold.</a:t>
            </a:r>
          </a:p>
        </p:txBody>
      </p:sp>
      <p:sp>
        <p:nvSpPr>
          <p:cNvPr id="8" name="step-number-2">
            <a:extLst xmlns:a="http://schemas.openxmlformats.org/drawingml/2006/main">
              <a:ext uri="{FF2B5EF4-FFF2-40B4-BE49-F238E27FC236}">
                <a16:creationId xmlns:a16="http://schemas.microsoft.com/office/drawing/2014/main" id="{CE7C35AC-172B-4BAA-9DE6-763D2E0BBBDA}"/>
              </a:ext>
            </a:extLst>
          </p:cNvPr>
          <p:cNvSpPr>
            <a:spLocks xmlns:a="http://schemas.openxmlformats.org/drawingml/2006/main" noGrp="1"/>
          </p:cNvSpPr>
          <p:nvPr/>
        </p:nvSpPr>
        <p:spPr>
          <a:xfrm xmlns:a="http://schemas.openxmlformats.org/drawingml/2006/main">
            <a:off x="628650" y="38766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03</a:t>
            </a:r>
          </a:p>
        </p:txBody>
      </p:sp>
      <p:sp>
        <p:nvSpPr>
          <p:cNvPr id="9" name="step-title-2">
            <a:extLst xmlns:a="http://schemas.openxmlformats.org/drawingml/2006/main">
              <a:ext uri="{FF2B5EF4-FFF2-40B4-BE49-F238E27FC236}">
                <a16:creationId xmlns:a16="http://schemas.microsoft.com/office/drawing/2014/main" id="{B8DFE781-0AA7-4A16-8275-C2DF02E9EC87}"/>
              </a:ext>
            </a:extLst>
          </p:cNvPr>
          <p:cNvSpPr>
            <a:spLocks xmlns:a="http://schemas.openxmlformats.org/drawingml/2006/main" noGrp="1"/>
          </p:cNvSpPr>
          <p:nvPr/>
        </p:nvSpPr>
        <p:spPr>
          <a:xfrm xmlns:a="http://schemas.openxmlformats.org/drawingml/2006/main">
            <a:off x="1504950" y="38766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Approve a recommendation</a:t>
            </a:r>
          </a:p>
        </p:txBody>
      </p:sp>
      <p:sp>
        <p:nvSpPr>
          <p:cNvPr id="10" name="step-description-2">
            <a:extLst xmlns:a="http://schemas.openxmlformats.org/drawingml/2006/main">
              <a:ext uri="{FF2B5EF4-FFF2-40B4-BE49-F238E27FC236}">
                <a16:creationId xmlns:a16="http://schemas.microsoft.com/office/drawing/2014/main" id="{D522C13A-E515-42AD-A39C-02AA8DA35BDA}"/>
              </a:ext>
            </a:extLst>
          </p:cNvPr>
          <p:cNvSpPr>
            <a:spLocks xmlns:a="http://schemas.openxmlformats.org/drawingml/2006/main" noGrp="1"/>
          </p:cNvSpPr>
          <p:nvPr/>
        </p:nvSpPr>
        <p:spPr>
          <a:xfrm xmlns:a="http://schemas.openxmlformats.org/drawingml/2006/main">
            <a:off x="4552950" y="38766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The operator reviews the target and resumes the paused healing policy.</a:t>
            </a:r>
          </a:p>
        </p:txBody>
      </p:sp>
      <p:sp>
        <p:nvSpPr>
          <p:cNvPr id="11" name="step-number-3">
            <a:extLst xmlns:a="http://schemas.openxmlformats.org/drawingml/2006/main">
              <a:ext uri="{FF2B5EF4-FFF2-40B4-BE49-F238E27FC236}">
                <a16:creationId xmlns:a16="http://schemas.microsoft.com/office/drawing/2014/main" id="{A989D3D9-E14F-430E-8FBD-C0353845A246}"/>
              </a:ext>
            </a:extLst>
          </p:cNvPr>
          <p:cNvSpPr>
            <a:spLocks xmlns:a="http://schemas.openxmlformats.org/drawingml/2006/main" noGrp="1"/>
          </p:cNvSpPr>
          <p:nvPr/>
        </p:nvSpPr>
        <p:spPr>
          <a:xfrm xmlns:a="http://schemas.openxmlformats.org/drawingml/2006/main">
            <a:off x="628650" y="49434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04</a:t>
            </a:r>
          </a:p>
        </p:txBody>
      </p:sp>
      <p:sp>
        <p:nvSpPr>
          <p:cNvPr id="12" name="step-title-3">
            <a:extLst xmlns:a="http://schemas.openxmlformats.org/drawingml/2006/main">
              <a:ext uri="{FF2B5EF4-FFF2-40B4-BE49-F238E27FC236}">
                <a16:creationId xmlns:a16="http://schemas.microsoft.com/office/drawing/2014/main" id="{CDC4582E-DF22-47D3-9ED9-788E5F9581F4}"/>
              </a:ext>
            </a:extLst>
          </p:cNvPr>
          <p:cNvSpPr>
            <a:spLocks xmlns:a="http://schemas.openxmlformats.org/drawingml/2006/main" noGrp="1"/>
          </p:cNvSpPr>
          <p:nvPr/>
        </p:nvSpPr>
        <p:spPr>
          <a:xfrm xmlns:a="http://schemas.openxmlformats.org/drawingml/2006/main">
            <a:off x="1504950" y="49434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Simulate recovery</a:t>
            </a:r>
          </a:p>
        </p:txBody>
      </p:sp>
      <p:sp>
        <p:nvSpPr>
          <p:cNvPr id="13" name="step-description-3">
            <a:extLst xmlns:a="http://schemas.openxmlformats.org/drawingml/2006/main">
              <a:ext uri="{FF2B5EF4-FFF2-40B4-BE49-F238E27FC236}">
                <a16:creationId xmlns:a16="http://schemas.microsoft.com/office/drawing/2014/main" id="{AD3D7538-3742-4BD8-BCAA-63418FF37E47}"/>
              </a:ext>
            </a:extLst>
          </p:cNvPr>
          <p:cNvSpPr>
            <a:spLocks xmlns:a="http://schemas.openxmlformats.org/drawingml/2006/main" noGrp="1"/>
          </p:cNvSpPr>
          <p:nvPr/>
        </p:nvSpPr>
        <p:spPr>
          <a:xfrm xmlns:a="http://schemas.openxmlformats.org/drawingml/2006/main">
            <a:off x="4552950" y="49434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The demonstration restores healthy telemetry and records before and after values.</a:t>
            </a:r>
          </a:p>
        </p:txBody>
      </p:sp>
      <p:sp>
        <p:nvSpPr>
          <p:cNvPr id="14" name="page-number">
            <a:extLst xmlns:a="http://schemas.openxmlformats.org/drawingml/2006/main">
              <a:ext uri="{FF2B5EF4-FFF2-40B4-BE49-F238E27FC236}">
                <a16:creationId xmlns:a16="http://schemas.microsoft.com/office/drawing/2014/main" id="{867465E5-CDD0-4957-8E24-E8B9D39F7699}"/>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12 / 25</a:t>
            </a:r>
          </a:p>
        </p:txBody>
      </p:sp>
    </p:spTree>
    <p:extLst>
      <p:ext uri="{BB962C8B-B14F-4D97-AF65-F5344CB8AC3E}">
        <p14:creationId xmlns:p14="http://schemas.microsoft.com/office/powerpoint/2010/main" val="1579745321"/>
      </p:ext>
    </p:extLst>
  </p:cSld>
</p:sld>
</file>

<file path=ppt/slides/slide13.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36769AB-04A1-493D-9407-19D38027D2AF}"/>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Recovery safeguards</a:t>
            </a:r>
          </a:p>
        </p:txBody>
      </p:sp>
      <p:sp>
        <p:nvSpPr>
          <p:cNvPr id="2" name="row-label-0">
            <a:extLst xmlns:a="http://schemas.openxmlformats.org/drawingml/2006/main">
              <a:ext uri="{FF2B5EF4-FFF2-40B4-BE49-F238E27FC236}">
                <a16:creationId xmlns:a16="http://schemas.microsoft.com/office/drawing/2014/main" id="{EC647B22-E88B-40D0-9DA2-C415CCB22887}"/>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 safe starting point</a:t>
            </a:r>
          </a:p>
        </p:txBody>
      </p:sp>
      <p:sp>
        <p:nvSpPr>
          <p:cNvPr id="3" name="row-description-0">
            <a:extLst xmlns:a="http://schemas.openxmlformats.org/drawingml/2006/main">
              <a:ext uri="{FF2B5EF4-FFF2-40B4-BE49-F238E27FC236}">
                <a16:creationId xmlns:a16="http://schemas.microsoft.com/office/drawing/2014/main" id="{48AEDDB9-E7A3-4641-965F-423C50A5C90A}"/>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Local startup uses dry-run mode and pauses new recovery actions until an operator resumes.</a:t>
            </a:r>
          </a:p>
        </p:txBody>
      </p:sp>
      <p:sp>
        <p:nvSpPr>
          <p:cNvPr id="4" name="row-label-1">
            <a:extLst xmlns:a="http://schemas.openxmlformats.org/drawingml/2006/main">
              <a:ext uri="{FF2B5EF4-FFF2-40B4-BE49-F238E27FC236}">
                <a16:creationId xmlns:a16="http://schemas.microsoft.com/office/drawing/2014/main" id="{97BD5AB4-34C4-4184-A2CE-69C1913952F6}"/>
              </a:ext>
            </a:extLst>
          </p:cNvPr>
          <p:cNvSpPr>
            <a:spLocks xmlns:a="http://schemas.openxmlformats.org/drawingml/2006/main" noGrp="1"/>
          </p:cNvSpPr>
          <p:nvPr/>
        </p:nvSpPr>
        <p:spPr>
          <a:xfrm xmlns:a="http://schemas.openxmlformats.org/drawingml/2006/main">
            <a:off x="628650" y="28098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 small authorized target</a:t>
            </a:r>
          </a:p>
        </p:txBody>
      </p:sp>
      <p:sp>
        <p:nvSpPr>
          <p:cNvPr id="5" name="row-description-1">
            <a:extLst xmlns:a="http://schemas.openxmlformats.org/drawingml/2006/main">
              <a:ext uri="{FF2B5EF4-FFF2-40B4-BE49-F238E27FC236}">
                <a16:creationId xmlns:a16="http://schemas.microsoft.com/office/drawing/2014/main" id="{188666E5-B65E-414D-92D1-BA10D7F1B4F7}"/>
              </a:ext>
            </a:extLst>
          </p:cNvPr>
          <p:cNvSpPr>
            <a:spLocks xmlns:a="http://schemas.openxmlformats.org/drawingml/2006/main" noGrp="1"/>
          </p:cNvSpPr>
          <p:nvPr/>
        </p:nvSpPr>
        <p:spPr>
          <a:xfrm xmlns:a="http://schemas.openxmlformats.org/drawingml/2006/main">
            <a:off x="4095750" y="28098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Live actions require the configured namespace and an explicitly managed Deployment.</a:t>
            </a:r>
          </a:p>
        </p:txBody>
      </p:sp>
      <p:sp>
        <p:nvSpPr>
          <p:cNvPr id="6" name="row-label-2">
            <a:extLst xmlns:a="http://schemas.openxmlformats.org/drawingml/2006/main">
              <a:ext uri="{FF2B5EF4-FFF2-40B4-BE49-F238E27FC236}">
                <a16:creationId xmlns:a16="http://schemas.microsoft.com/office/drawing/2014/main" id="{4CF55232-1B2C-430D-B762-A4FCBFFE4501}"/>
              </a:ext>
            </a:extLst>
          </p:cNvPr>
          <p:cNvSpPr>
            <a:spLocks xmlns:a="http://schemas.openxmlformats.org/drawingml/2006/main" noGrp="1"/>
          </p:cNvSpPr>
          <p:nvPr/>
        </p:nvSpPr>
        <p:spPr>
          <a:xfrm xmlns:a="http://schemas.openxmlformats.org/drawingml/2006/main">
            <a:off x="628650" y="38766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 bounded action</a:t>
            </a:r>
          </a:p>
        </p:txBody>
      </p:sp>
      <p:sp>
        <p:nvSpPr>
          <p:cNvPr id="7" name="row-description-2">
            <a:extLst xmlns:a="http://schemas.openxmlformats.org/drawingml/2006/main">
              <a:ext uri="{FF2B5EF4-FFF2-40B4-BE49-F238E27FC236}">
                <a16:creationId xmlns:a16="http://schemas.microsoft.com/office/drawing/2014/main" id="{F7D8D82B-5997-413B-AA21-C44E8A60E6BA}"/>
              </a:ext>
            </a:extLst>
          </p:cNvPr>
          <p:cNvSpPr>
            <a:spLocks xmlns:a="http://schemas.openxmlformats.org/drawingml/2006/main" noGrp="1"/>
          </p:cNvSpPr>
          <p:nvPr/>
        </p:nvSpPr>
        <p:spPr>
          <a:xfrm xmlns:a="http://schemas.openxmlformats.org/drawingml/2006/main">
            <a:off x="4095750" y="38766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One operation at a time, one attempt per action, replica limits, cooldown and an hourly budget.</a:t>
            </a:r>
          </a:p>
        </p:txBody>
      </p:sp>
      <p:sp>
        <p:nvSpPr>
          <p:cNvPr id="8" name="row-label-3">
            <a:extLst xmlns:a="http://schemas.openxmlformats.org/drawingml/2006/main">
              <a:ext uri="{FF2B5EF4-FFF2-40B4-BE49-F238E27FC236}">
                <a16:creationId xmlns:a16="http://schemas.microsoft.com/office/drawing/2014/main" id="{60211382-6930-4A99-A86B-E658CC912F55}"/>
              </a:ext>
            </a:extLst>
          </p:cNvPr>
          <p:cNvSpPr>
            <a:spLocks xmlns:a="http://schemas.openxmlformats.org/drawingml/2006/main" noGrp="1"/>
          </p:cNvSpPr>
          <p:nvPr/>
        </p:nvSpPr>
        <p:spPr>
          <a:xfrm xmlns:a="http://schemas.openxmlformats.org/drawingml/2006/main">
            <a:off x="628650" y="49434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An honest result</a:t>
            </a:r>
          </a:p>
        </p:txBody>
      </p:sp>
      <p:sp>
        <p:nvSpPr>
          <p:cNvPr id="9" name="row-description-3">
            <a:extLst xmlns:a="http://schemas.openxmlformats.org/drawingml/2006/main">
              <a:ext uri="{FF2B5EF4-FFF2-40B4-BE49-F238E27FC236}">
                <a16:creationId xmlns:a16="http://schemas.microsoft.com/office/drawing/2014/main" id="{9FBA134F-C582-48D2-A8F3-3B0EC6337257}"/>
              </a:ext>
            </a:extLst>
          </p:cNvPr>
          <p:cNvSpPr>
            <a:spLocks xmlns:a="http://schemas.openxmlformats.org/drawingml/2006/main" noGrp="1"/>
          </p:cNvSpPr>
          <p:nvPr/>
        </p:nvSpPr>
        <p:spPr>
          <a:xfrm xmlns:a="http://schemas.openxmlformats.org/drawingml/2006/main">
            <a:off x="4095750" y="49434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An accepted API call alone does not prove recovery. Failed or unverified rollouts remain failures.</a:t>
            </a:r>
          </a:p>
        </p:txBody>
      </p:sp>
      <p:sp>
        <p:nvSpPr>
          <p:cNvPr id="10" name="page-number">
            <a:extLst xmlns:a="http://schemas.openxmlformats.org/drawingml/2006/main">
              <a:ext uri="{FF2B5EF4-FFF2-40B4-BE49-F238E27FC236}">
                <a16:creationId xmlns:a16="http://schemas.microsoft.com/office/drawing/2014/main" id="{17F37FAE-E7C3-451B-B370-E25B143C2B0E}"/>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13 / 25</a:t>
            </a:r>
          </a:p>
        </p:txBody>
      </p:sp>
    </p:spTree>
    <p:extLst>
      <p:ext uri="{BB962C8B-B14F-4D97-AF65-F5344CB8AC3E}">
        <p14:creationId xmlns:p14="http://schemas.microsoft.com/office/powerpoint/2010/main" val="1869981490"/>
      </p:ext>
    </p:extLst>
  </p:cSld>
</p:sld>
</file>

<file path=ppt/slides/slide1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FC3475F4-FCEF-42A3-ADC5-C3D36C57E47C}"/>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Automatic policy and outcome stay visible</a:t>
            </a:r>
          </a:p>
        </p:txBody>
      </p:sp>
      <p:pic>
        <p:nvPicPr>
          <p:cNvPr id="2" name="">
            <a:extLst xmlns:a="http://schemas.openxmlformats.org/drawingml/2006/main">
              <a:ext uri="{FF2B5EF4-FFF2-40B4-BE49-F238E27FC236}">
                <a16:creationId xmlns:a16="http://schemas.microsoft.com/office/drawing/2014/main" id="{E52D96D4-A622-4B6B-AC2C-4DC746232160}"/>
              </a:ext>
            </a:extLst>
          </p:cNvPr>
          <p:cNvPicPr>
            <a:picLocks xmlns:a="http://schemas.openxmlformats.org/drawingml/2006/main" noChangeAspect="1"/>
          </p:cNvPicPr>
          <p:nvPr/>
        </p:nvPicPr>
        <p:blipFill>
          <a:blip xmlns:r="http://schemas.openxmlformats.org/officeDocument/2006/relationships" xmlns:a="http://schemas.openxmlformats.org/drawingml/2006/main" r:embed="Rb706cacb9c3a4128"/>
          <a:stretch xmlns:a="http://schemas.openxmlformats.org/drawingml/2006/main"/>
        </p:blipFill>
        <p:spPr>
          <a:xfrm xmlns:a="http://schemas.openxmlformats.org/drawingml/2006/main">
            <a:off x="609600" y="2828550"/>
            <a:ext cx="7334250" cy="1905750"/>
          </a:xfrm>
          <a:prstGeom xmlns:a="http://schemas.openxmlformats.org/drawingml/2006/main" prst="rect">
            <a:avLst/>
          </a:prstGeom>
        </p:spPr>
      </p:pic>
      <p:sp>
        <p:nvSpPr>
          <p:cNvPr id="3" name="image-caption">
            <a:extLst xmlns:a="http://schemas.openxmlformats.org/drawingml/2006/main">
              <a:ext uri="{FF2B5EF4-FFF2-40B4-BE49-F238E27FC236}">
                <a16:creationId xmlns:a16="http://schemas.microsoft.com/office/drawing/2014/main" id="{039990C7-6F2C-44BC-B8FC-661CA0F31385}"/>
              </a:ext>
            </a:extLst>
          </p:cNvPr>
          <p:cNvSpPr>
            <a:spLocks xmlns:a="http://schemas.openxmlformats.org/drawingml/2006/main" noGrp="1"/>
          </p:cNvSpPr>
          <p:nvPr/>
        </p:nvSpPr>
        <p:spPr>
          <a:xfrm xmlns:a="http://schemas.openxmlformats.org/drawingml/2006/main">
            <a:off x="8362950" y="1847850"/>
            <a:ext cx="31051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Actual browser simulation: automatic policy, no per-action approval and an explicitly simulated recovery.</a:t>
            </a:r>
          </a:p>
        </p:txBody>
      </p:sp>
      <p:sp>
        <p:nvSpPr>
          <p:cNvPr id="4" name="image-context">
            <a:extLst xmlns:a="http://schemas.openxmlformats.org/drawingml/2006/main">
              <a:ext uri="{FF2B5EF4-FFF2-40B4-BE49-F238E27FC236}">
                <a16:creationId xmlns:a16="http://schemas.microsoft.com/office/drawing/2014/main" id="{4339311D-AEF2-447D-B3DB-72F9A2B8D8EB}"/>
              </a:ext>
            </a:extLst>
          </p:cNvPr>
          <p:cNvSpPr>
            <a:spLocks xmlns:a="http://schemas.openxmlformats.org/drawingml/2006/main" noGrp="1"/>
          </p:cNvSpPr>
          <p:nvPr/>
        </p:nvSpPr>
        <p:spPr>
          <a:xfrm xmlns:a="http://schemas.openxmlformats.org/drawingml/2006/main">
            <a:off x="8362950" y="4019550"/>
            <a:ext cx="310515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The action record names the decision, authorization and outcome. A simulation never represents a real cluster repair.</a:t>
            </a:r>
          </a:p>
        </p:txBody>
      </p:sp>
      <p:sp>
        <p:nvSpPr>
          <p:cNvPr id="5" name="page-number">
            <a:extLst xmlns:a="http://schemas.openxmlformats.org/drawingml/2006/main">
              <a:ext uri="{FF2B5EF4-FFF2-40B4-BE49-F238E27FC236}">
                <a16:creationId xmlns:a16="http://schemas.microsoft.com/office/drawing/2014/main" id="{2C6E6677-5A14-4118-B6CD-D7165D5C36E5}"/>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14 / 25</a:t>
            </a:r>
          </a:p>
        </p:txBody>
      </p:sp>
    </p:spTree>
    <p:extLst>
      <p:ext uri="{BB962C8B-B14F-4D97-AF65-F5344CB8AC3E}">
        <p14:creationId xmlns:p14="http://schemas.microsoft.com/office/powerpoint/2010/main" val="1848031166"/>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F45621A7-E6E5-46CB-A388-3EF22B06D788}"/>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What the eight views cover</a:t>
            </a:r>
          </a:p>
        </p:txBody>
      </p:sp>
      <p:sp>
        <p:nvSpPr>
          <p:cNvPr id="2" name="column-label-0">
            <a:extLst xmlns:a="http://schemas.openxmlformats.org/drawingml/2006/main">
              <a:ext uri="{FF2B5EF4-FFF2-40B4-BE49-F238E27FC236}">
                <a16:creationId xmlns:a16="http://schemas.microsoft.com/office/drawing/2014/main" id="{166B73D0-794B-4A38-950B-F392A166B52A}"/>
              </a:ext>
            </a:extLst>
          </p:cNvPr>
          <p:cNvSpPr>
            <a:spLocks xmlns:a="http://schemas.openxmlformats.org/drawingml/2006/main" noGrp="1"/>
          </p:cNvSpPr>
          <p:nvPr/>
        </p:nvSpPr>
        <p:spPr>
          <a:xfrm xmlns:a="http://schemas.openxmlformats.org/drawingml/2006/main">
            <a:off x="628650"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Understanding the situation</a:t>
            </a:r>
          </a:p>
        </p:txBody>
      </p:sp>
      <p:sp>
        <p:nvSpPr>
          <p:cNvPr id="3" name="column-body-0">
            <a:extLst xmlns:a="http://schemas.openxmlformats.org/drawingml/2006/main">
              <a:ext uri="{FF2B5EF4-FFF2-40B4-BE49-F238E27FC236}">
                <a16:creationId xmlns:a16="http://schemas.microsoft.com/office/drawing/2014/main" id="{3575B1BB-CC59-407C-86C8-84DC875156E7}"/>
              </a:ext>
            </a:extLst>
          </p:cNvPr>
          <p:cNvSpPr>
            <a:spLocks xmlns:a="http://schemas.openxmlformats.org/drawingml/2006/main" noGrp="1"/>
          </p:cNvSpPr>
          <p:nvPr/>
        </p:nvSpPr>
        <p:spPr>
          <a:xfrm xmlns:a="http://schemas.openxmlformats.org/drawingml/2006/main">
            <a:off x="628650"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Overview</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Cluster explorer</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Observability</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AI fault intelligence</a:t>
            </a:r>
          </a:p>
        </p:txBody>
      </p:sp>
      <p:sp>
        <p:nvSpPr>
          <p:cNvPr id="4" name="column-label-1">
            <a:extLst xmlns:a="http://schemas.openxmlformats.org/drawingml/2006/main">
              <a:ext uri="{FF2B5EF4-FFF2-40B4-BE49-F238E27FC236}">
                <a16:creationId xmlns:a16="http://schemas.microsoft.com/office/drawing/2014/main" id="{81750666-4D8C-423C-A2DE-7952F624B3DB}"/>
              </a:ext>
            </a:extLst>
          </p:cNvPr>
          <p:cNvSpPr>
            <a:spLocks xmlns:a="http://schemas.openxmlformats.org/drawingml/2006/main" noGrp="1"/>
          </p:cNvSpPr>
          <p:nvPr/>
        </p:nvSpPr>
        <p:spPr>
          <a:xfrm xmlns:a="http://schemas.openxmlformats.org/drawingml/2006/main">
            <a:off x="6505575"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Reviewing the response</a:t>
            </a:r>
          </a:p>
        </p:txBody>
      </p:sp>
      <p:sp>
        <p:nvSpPr>
          <p:cNvPr id="5" name="column-body-1">
            <a:extLst xmlns:a="http://schemas.openxmlformats.org/drawingml/2006/main">
              <a:ext uri="{FF2B5EF4-FFF2-40B4-BE49-F238E27FC236}">
                <a16:creationId xmlns:a16="http://schemas.microsoft.com/office/drawing/2014/main" id="{D078620E-2B71-4A90-8D04-48D17D292FAE}"/>
              </a:ext>
            </a:extLst>
          </p:cNvPr>
          <p:cNvSpPr>
            <a:spLocks xmlns:a="http://schemas.openxmlformats.org/drawingml/2006/main" noGrp="1"/>
          </p:cNvSpPr>
          <p:nvPr/>
        </p:nvSpPr>
        <p:spPr>
          <a:xfrm xmlns:a="http://schemas.openxmlformats.org/drawingml/2006/main">
            <a:off x="6505575"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Healing operations</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Alerts and incidents</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Event and audit logs</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Settings and integrations</a:t>
            </a:r>
          </a:p>
        </p:txBody>
      </p:sp>
      <p:sp>
        <p:nvSpPr>
          <p:cNvPr id="6" name="page-number">
            <a:extLst xmlns:a="http://schemas.openxmlformats.org/drawingml/2006/main">
              <a:ext uri="{FF2B5EF4-FFF2-40B4-BE49-F238E27FC236}">
                <a16:creationId xmlns:a16="http://schemas.microsoft.com/office/drawing/2014/main" id="{82578AD5-5BC0-4A92-8426-4023C3D41A22}"/>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15 / 25</a:t>
            </a:r>
          </a:p>
        </p:txBody>
      </p:sp>
    </p:spTree>
    <p:extLst>
      <p:ext uri="{BB962C8B-B14F-4D97-AF65-F5344CB8AC3E}">
        <p14:creationId xmlns:p14="http://schemas.microsoft.com/office/powerpoint/2010/main" val="616445771"/>
      </p:ext>
    </p:extLst>
  </p:cSld>
</p:sld>
</file>

<file path=ppt/slides/slide16.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7CB87040-34DC-4A45-B157-D6A7ABB2BA11}"/>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Three ways to use the project</a:t>
            </a:r>
          </a:p>
        </p:txBody>
      </p:sp>
      <p:sp>
        <p:nvSpPr>
          <p:cNvPr id="2" name="row-label-0">
            <a:extLst xmlns:a="http://schemas.openxmlformats.org/drawingml/2006/main">
              <a:ext uri="{FF2B5EF4-FFF2-40B4-BE49-F238E27FC236}">
                <a16:creationId xmlns:a16="http://schemas.microsoft.com/office/drawing/2014/main" id="{1D97BC18-EAF0-49F4-A494-96752BB59940}"/>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Public website</a:t>
            </a:r>
          </a:p>
        </p:txBody>
      </p:sp>
      <p:sp>
        <p:nvSpPr>
          <p:cNvPr id="3" name="row-description-0">
            <a:extLst xmlns:a="http://schemas.openxmlformats.org/drawingml/2006/main">
              <a:ext uri="{FF2B5EF4-FFF2-40B4-BE49-F238E27FC236}">
                <a16:creationId xmlns:a16="http://schemas.microsoft.com/office/drawing/2014/main" id="{60D4883D-185D-47EA-93A0-7B0E30EAB3AD}"/>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Browser simulation, session history, labelled rules and simulated recovery. No account required.</a:t>
            </a:r>
          </a:p>
        </p:txBody>
      </p:sp>
      <p:sp>
        <p:nvSpPr>
          <p:cNvPr id="4" name="row-label-1">
            <a:extLst xmlns:a="http://schemas.openxmlformats.org/drawingml/2006/main">
              <a:ext uri="{FF2B5EF4-FFF2-40B4-BE49-F238E27FC236}">
                <a16:creationId xmlns:a16="http://schemas.microsoft.com/office/drawing/2014/main" id="{8C163C9D-CBF1-49C8-BFA0-94B576AA09D8}"/>
              </a:ext>
            </a:extLst>
          </p:cNvPr>
          <p:cNvSpPr>
            <a:spLocks xmlns:a="http://schemas.openxmlformats.org/drawingml/2006/main" noGrp="1"/>
          </p:cNvSpPr>
          <p:nvPr/>
        </p:nvSpPr>
        <p:spPr>
          <a:xfrm xmlns:a="http://schemas.openxmlformats.org/drawingml/2006/main">
            <a:off x="628650" y="30480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Local demo</a:t>
            </a:r>
          </a:p>
        </p:txBody>
      </p:sp>
      <p:sp>
        <p:nvSpPr>
          <p:cNvPr id="5" name="row-description-1">
            <a:extLst xmlns:a="http://schemas.openxmlformats.org/drawingml/2006/main">
              <a:ext uri="{FF2B5EF4-FFF2-40B4-BE49-F238E27FC236}">
                <a16:creationId xmlns:a16="http://schemas.microsoft.com/office/drawing/2014/main" id="{ACE186BC-8C8F-4C3A-86CA-320646D33EA3}"/>
              </a:ext>
            </a:extLst>
          </p:cNvPr>
          <p:cNvSpPr>
            <a:spLocks xmlns:a="http://schemas.openxmlformats.org/drawingml/2006/main" noGrp="1"/>
          </p:cNvSpPr>
          <p:nvPr/>
        </p:nvSpPr>
        <p:spPr>
          <a:xfrm xmlns:a="http://schemas.openxmlformats.org/drawingml/2006/main">
            <a:off x="4095750" y="30480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React and FastAPI with SQLite or Compose MongoDB. Optional trained AI service. No cluster required.</a:t>
            </a:r>
          </a:p>
        </p:txBody>
      </p:sp>
      <p:sp>
        <p:nvSpPr>
          <p:cNvPr id="6" name="row-label-2">
            <a:extLst xmlns:a="http://schemas.openxmlformats.org/drawingml/2006/main">
              <a:ext uri="{FF2B5EF4-FFF2-40B4-BE49-F238E27FC236}">
                <a16:creationId xmlns:a16="http://schemas.microsoft.com/office/drawing/2014/main" id="{80BA6059-63D9-482E-9551-6BEDD9EB6220}"/>
              </a:ext>
            </a:extLst>
          </p:cNvPr>
          <p:cNvSpPr>
            <a:spLocks xmlns:a="http://schemas.openxmlformats.org/drawingml/2006/main" noGrp="1"/>
          </p:cNvSpPr>
          <p:nvPr/>
        </p:nvSpPr>
        <p:spPr>
          <a:xfrm xmlns:a="http://schemas.openxmlformats.org/drawingml/2006/main">
            <a:off x="628650" y="43529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Configured cluster</a:t>
            </a:r>
          </a:p>
        </p:txBody>
      </p:sp>
      <p:sp>
        <p:nvSpPr>
          <p:cNvPr id="7" name="row-description-2">
            <a:extLst xmlns:a="http://schemas.openxmlformats.org/drawingml/2006/main">
              <a:ext uri="{FF2B5EF4-FFF2-40B4-BE49-F238E27FC236}">
                <a16:creationId xmlns:a16="http://schemas.microsoft.com/office/drawing/2014/main" id="{74ABA746-D081-405B-BA0C-5C08843FCD0C}"/>
              </a:ext>
            </a:extLst>
          </p:cNvPr>
          <p:cNvSpPr>
            <a:spLocks xmlns:a="http://schemas.openxmlformats.org/drawingml/2006/main" noGrp="1"/>
          </p:cNvSpPr>
          <p:nvPr/>
        </p:nvSpPr>
        <p:spPr>
          <a:xfrm xmlns:a="http://schemas.openxmlformats.org/drawingml/2006/main">
            <a:off x="4095750" y="435292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Namespace inventory, owned-Pod telemetry and manual or explicitly enabled autonomous Deployment runbooks.</a:t>
            </a:r>
          </a:p>
        </p:txBody>
      </p:sp>
      <p:sp>
        <p:nvSpPr>
          <p:cNvPr id="8" name="page-number">
            <a:extLst xmlns:a="http://schemas.openxmlformats.org/drawingml/2006/main">
              <a:ext uri="{FF2B5EF4-FFF2-40B4-BE49-F238E27FC236}">
                <a16:creationId xmlns:a16="http://schemas.microsoft.com/office/drawing/2014/main" id="{265ED570-2938-464D-88F2-F2904283B9A6}"/>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16 / 25</a:t>
            </a:r>
          </a:p>
        </p:txBody>
      </p:sp>
    </p:spTree>
    <p:extLst>
      <p:ext uri="{BB962C8B-B14F-4D97-AF65-F5344CB8AC3E}">
        <p14:creationId xmlns:p14="http://schemas.microsoft.com/office/powerpoint/2010/main" val="1599021098"/>
      </p:ext>
    </p:extLst>
  </p:cSld>
</p:sld>
</file>

<file path=ppt/slides/slide17.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E13D20E1-3B23-4C39-B698-9A0510CE0040}"/>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A first visit to the demo</a:t>
            </a:r>
          </a:p>
        </p:txBody>
      </p:sp>
      <p:sp>
        <p:nvSpPr>
          <p:cNvPr id="2" name="step-number-0">
            <a:extLst xmlns:a="http://schemas.openxmlformats.org/drawingml/2006/main">
              <a:ext uri="{FF2B5EF4-FFF2-40B4-BE49-F238E27FC236}">
                <a16:creationId xmlns:a16="http://schemas.microsoft.com/office/drawing/2014/main" id="{FD97D0E5-F634-4BDE-BF3F-09732C67FDB5}"/>
              </a:ext>
            </a:extLst>
          </p:cNvPr>
          <p:cNvSpPr>
            <a:spLocks xmlns:a="http://schemas.openxmlformats.org/drawingml/2006/main" noGrp="1"/>
          </p:cNvSpPr>
          <p:nvPr/>
        </p:nvSpPr>
        <p:spPr>
          <a:xfrm xmlns:a="http://schemas.openxmlformats.org/drawingml/2006/main">
            <a:off x="628650" y="17430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01</a:t>
            </a:r>
          </a:p>
        </p:txBody>
      </p:sp>
      <p:sp>
        <p:nvSpPr>
          <p:cNvPr id="3" name="step-title-0">
            <a:extLst xmlns:a="http://schemas.openxmlformats.org/drawingml/2006/main">
              <a:ext uri="{FF2B5EF4-FFF2-40B4-BE49-F238E27FC236}">
                <a16:creationId xmlns:a16="http://schemas.microsoft.com/office/drawing/2014/main" id="{F1EF1C91-465B-48C2-A5FE-182D3F41ABA5}"/>
              </a:ext>
            </a:extLst>
          </p:cNvPr>
          <p:cNvSpPr>
            <a:spLocks xmlns:a="http://schemas.openxmlformats.org/drawingml/2006/main" noGrp="1"/>
          </p:cNvSpPr>
          <p:nvPr/>
        </p:nvSpPr>
        <p:spPr>
          <a:xfrm xmlns:a="http://schemas.openxmlformats.org/drawingml/2006/main">
            <a:off x="1504950" y="17430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Enable automatic policy</a:t>
            </a:r>
          </a:p>
        </p:txBody>
      </p:sp>
      <p:sp>
        <p:nvSpPr>
          <p:cNvPr id="4" name="step-description-0">
            <a:extLst xmlns:a="http://schemas.openxmlformats.org/drawingml/2006/main">
              <a:ext uri="{FF2B5EF4-FFF2-40B4-BE49-F238E27FC236}">
                <a16:creationId xmlns:a16="http://schemas.microsoft.com/office/drawing/2014/main" id="{0A2F53E8-6353-44D7-B18F-FA1A2EC821BF}"/>
              </a:ext>
            </a:extLst>
          </p:cNvPr>
          <p:cNvSpPr>
            <a:spLocks xmlns:a="http://schemas.openxmlformats.org/drawingml/2006/main" noGrp="1"/>
          </p:cNvSpPr>
          <p:nvPr/>
        </p:nvSpPr>
        <p:spPr>
          <a:xfrm xmlns:a="http://schemas.openxmlformats.org/drawingml/2006/main">
            <a:off x="4552950" y="17430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In Settings select Autonomous recovery and save. In Healing operations resume healing.</a:t>
            </a:r>
          </a:p>
        </p:txBody>
      </p:sp>
      <p:sp>
        <p:nvSpPr>
          <p:cNvPr id="5" name="step-number-1">
            <a:extLst xmlns:a="http://schemas.openxmlformats.org/drawingml/2006/main">
              <a:ext uri="{FF2B5EF4-FFF2-40B4-BE49-F238E27FC236}">
                <a16:creationId xmlns:a16="http://schemas.microsoft.com/office/drawing/2014/main" id="{14B1BC8E-B166-4B65-83F2-59D761383570}"/>
              </a:ext>
            </a:extLst>
          </p:cNvPr>
          <p:cNvSpPr>
            <a:spLocks xmlns:a="http://schemas.openxmlformats.org/drawingml/2006/main" noGrp="1"/>
          </p:cNvSpPr>
          <p:nvPr/>
        </p:nvSpPr>
        <p:spPr>
          <a:xfrm xmlns:a="http://schemas.openxmlformats.org/drawingml/2006/main">
            <a:off x="628650" y="28098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02</a:t>
            </a:r>
          </a:p>
        </p:txBody>
      </p:sp>
      <p:sp>
        <p:nvSpPr>
          <p:cNvPr id="6" name="step-title-1">
            <a:extLst xmlns:a="http://schemas.openxmlformats.org/drawingml/2006/main">
              <a:ext uri="{FF2B5EF4-FFF2-40B4-BE49-F238E27FC236}">
                <a16:creationId xmlns:a16="http://schemas.microsoft.com/office/drawing/2014/main" id="{482B27C2-F2DA-4E09-9302-53CF84C259A3}"/>
              </a:ext>
            </a:extLst>
          </p:cNvPr>
          <p:cNvSpPr>
            <a:spLocks xmlns:a="http://schemas.openxmlformats.org/drawingml/2006/main" noGrp="1"/>
          </p:cNvSpPr>
          <p:nvPr/>
        </p:nvSpPr>
        <p:spPr>
          <a:xfrm xmlns:a="http://schemas.openxmlformats.org/drawingml/2006/main">
            <a:off x="1504950" y="28098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Create a visible example</a:t>
            </a:r>
          </a:p>
        </p:txBody>
      </p:sp>
      <p:sp>
        <p:nvSpPr>
          <p:cNvPr id="7" name="step-description-1">
            <a:extLst xmlns:a="http://schemas.openxmlformats.org/drawingml/2006/main">
              <a:ext uri="{FF2B5EF4-FFF2-40B4-BE49-F238E27FC236}">
                <a16:creationId xmlns:a16="http://schemas.microsoft.com/office/drawing/2014/main" id="{9CD7E83A-6E90-4AD1-86D0-E2D2C5E65A3E}"/>
              </a:ext>
            </a:extLst>
          </p:cNvPr>
          <p:cNvSpPr>
            <a:spLocks xmlns:a="http://schemas.openxmlformats.org/drawingml/2006/main" noGrp="1"/>
          </p:cNvSpPr>
          <p:nvPr/>
        </p:nvSpPr>
        <p:spPr>
          <a:xfrm xmlns:a="http://schemas.openxmlformats.org/drawingml/2006/main">
            <a:off x="4552950" y="28098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On Overview inject a CPU, memory, restart or latency fault.</a:t>
            </a:r>
          </a:p>
        </p:txBody>
      </p:sp>
      <p:sp>
        <p:nvSpPr>
          <p:cNvPr id="8" name="step-number-2">
            <a:extLst xmlns:a="http://schemas.openxmlformats.org/drawingml/2006/main">
              <a:ext uri="{FF2B5EF4-FFF2-40B4-BE49-F238E27FC236}">
                <a16:creationId xmlns:a16="http://schemas.microsoft.com/office/drawing/2014/main" id="{0BFFE2B5-F15B-4188-AFCE-AE48D183448F}"/>
              </a:ext>
            </a:extLst>
          </p:cNvPr>
          <p:cNvSpPr>
            <a:spLocks xmlns:a="http://schemas.openxmlformats.org/drawingml/2006/main" noGrp="1"/>
          </p:cNvSpPr>
          <p:nvPr/>
        </p:nvSpPr>
        <p:spPr>
          <a:xfrm xmlns:a="http://schemas.openxmlformats.org/drawingml/2006/main">
            <a:off x="628650" y="38766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03</a:t>
            </a:r>
          </a:p>
        </p:txBody>
      </p:sp>
      <p:sp>
        <p:nvSpPr>
          <p:cNvPr id="9" name="step-title-2">
            <a:extLst xmlns:a="http://schemas.openxmlformats.org/drawingml/2006/main">
              <a:ext uri="{FF2B5EF4-FFF2-40B4-BE49-F238E27FC236}">
                <a16:creationId xmlns:a16="http://schemas.microsoft.com/office/drawing/2014/main" id="{BCF4E93E-D71A-4A73-9DFD-C6D0E25FB217}"/>
              </a:ext>
            </a:extLst>
          </p:cNvPr>
          <p:cNvSpPr>
            <a:spLocks xmlns:a="http://schemas.openxmlformats.org/drawingml/2006/main" noGrp="1"/>
          </p:cNvSpPr>
          <p:nvPr/>
        </p:nvSpPr>
        <p:spPr>
          <a:xfrm xmlns:a="http://schemas.openxmlformats.org/drawingml/2006/main">
            <a:off x="1504950" y="38766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Watch the simulation</a:t>
            </a:r>
          </a:p>
        </p:txBody>
      </p:sp>
      <p:sp>
        <p:nvSpPr>
          <p:cNvPr id="10" name="step-description-2">
            <a:extLst xmlns:a="http://schemas.openxmlformats.org/drawingml/2006/main">
              <a:ext uri="{FF2B5EF4-FFF2-40B4-BE49-F238E27FC236}">
                <a16:creationId xmlns:a16="http://schemas.microsoft.com/office/drawing/2014/main" id="{2F01FE0D-95B5-4C7D-BA4E-643F590E6165}"/>
              </a:ext>
            </a:extLst>
          </p:cNvPr>
          <p:cNvSpPr>
            <a:spLocks xmlns:a="http://schemas.openxmlformats.org/drawingml/2006/main" noGrp="1"/>
          </p:cNvSpPr>
          <p:nvPr/>
        </p:nvSpPr>
        <p:spPr>
          <a:xfrm xmlns:a="http://schemas.openxmlformats.org/drawingml/2006/main">
            <a:off x="4552950" y="38766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After three fault samples the browser simulates recovery without an approval click.</a:t>
            </a:r>
          </a:p>
        </p:txBody>
      </p:sp>
      <p:sp>
        <p:nvSpPr>
          <p:cNvPr id="11" name="step-number-3">
            <a:extLst xmlns:a="http://schemas.openxmlformats.org/drawingml/2006/main">
              <a:ext uri="{FF2B5EF4-FFF2-40B4-BE49-F238E27FC236}">
                <a16:creationId xmlns:a16="http://schemas.microsoft.com/office/drawing/2014/main" id="{0F87F122-94E2-48B5-B9BE-6EE44BD7A8B9}"/>
              </a:ext>
            </a:extLst>
          </p:cNvPr>
          <p:cNvSpPr>
            <a:spLocks xmlns:a="http://schemas.openxmlformats.org/drawingml/2006/main" noGrp="1"/>
          </p:cNvSpPr>
          <p:nvPr/>
        </p:nvSpPr>
        <p:spPr>
          <a:xfrm xmlns:a="http://schemas.openxmlformats.org/drawingml/2006/main">
            <a:off x="628650" y="49434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04</a:t>
            </a:r>
          </a:p>
        </p:txBody>
      </p:sp>
      <p:sp>
        <p:nvSpPr>
          <p:cNvPr id="12" name="step-title-3">
            <a:extLst xmlns:a="http://schemas.openxmlformats.org/drawingml/2006/main">
              <a:ext uri="{FF2B5EF4-FFF2-40B4-BE49-F238E27FC236}">
                <a16:creationId xmlns:a16="http://schemas.microsoft.com/office/drawing/2014/main" id="{98FCE72D-0EF5-44D1-9628-33EB8A520C02}"/>
              </a:ext>
            </a:extLst>
          </p:cNvPr>
          <p:cNvSpPr>
            <a:spLocks xmlns:a="http://schemas.openxmlformats.org/drawingml/2006/main" noGrp="1"/>
          </p:cNvSpPr>
          <p:nvPr/>
        </p:nvSpPr>
        <p:spPr>
          <a:xfrm xmlns:a="http://schemas.openxmlformats.org/drawingml/2006/main">
            <a:off x="1504950" y="49434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Inspect the result</a:t>
            </a:r>
          </a:p>
        </p:txBody>
      </p:sp>
      <p:sp>
        <p:nvSpPr>
          <p:cNvPr id="13" name="step-description-3">
            <a:extLst xmlns:a="http://schemas.openxmlformats.org/drawingml/2006/main">
              <a:ext uri="{FF2B5EF4-FFF2-40B4-BE49-F238E27FC236}">
                <a16:creationId xmlns:a16="http://schemas.microsoft.com/office/drawing/2014/main" id="{21610575-C43D-4292-A6F6-BFE063901764}"/>
              </a:ext>
            </a:extLst>
          </p:cNvPr>
          <p:cNvSpPr>
            <a:spLocks xmlns:a="http://schemas.openxmlformats.org/drawingml/2006/main" noGrp="1"/>
          </p:cNvSpPr>
          <p:nvPr/>
        </p:nvSpPr>
        <p:spPr>
          <a:xfrm xmlns:a="http://schemas.openxmlformats.org/drawingml/2006/main">
            <a:off x="4552950" y="49434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Check the action, resolved incident and audit. Reloading pauses healing and restores manual policy.</a:t>
            </a:r>
          </a:p>
        </p:txBody>
      </p:sp>
      <p:sp>
        <p:nvSpPr>
          <p:cNvPr id="14" name="page-number">
            <a:extLst xmlns:a="http://schemas.openxmlformats.org/drawingml/2006/main">
              <a:ext uri="{FF2B5EF4-FFF2-40B4-BE49-F238E27FC236}">
                <a16:creationId xmlns:a16="http://schemas.microsoft.com/office/drawing/2014/main" id="{D4C4D80A-0430-45F2-A0C9-EB8F4580EA85}"/>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17 / 25</a:t>
            </a:r>
          </a:p>
        </p:txBody>
      </p:sp>
    </p:spTree>
    <p:extLst>
      <p:ext uri="{BB962C8B-B14F-4D97-AF65-F5344CB8AC3E}">
        <p14:creationId xmlns:p14="http://schemas.microsoft.com/office/powerpoint/2010/main" val="788795305"/>
      </p:ext>
    </p:extLst>
  </p:cSld>
</p:sld>
</file>

<file path=ppt/slides/slide18.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EB2DC4A-EFA1-42F8-A45F-DE7D3FF7F362}"/>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Requirements for a real cluster</a:t>
            </a:r>
          </a:p>
        </p:txBody>
      </p:sp>
      <p:sp>
        <p:nvSpPr>
          <p:cNvPr id="2" name="row-label-0">
            <a:extLst xmlns:a="http://schemas.openxmlformats.org/drawingml/2006/main">
              <a:ext uri="{FF2B5EF4-FFF2-40B4-BE49-F238E27FC236}">
                <a16:creationId xmlns:a16="http://schemas.microsoft.com/office/drawing/2014/main" id="{98C6F89A-D8BB-42EB-B949-8E2954EED32D}"/>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 deliberate test environment</a:t>
            </a:r>
          </a:p>
        </p:txBody>
      </p:sp>
      <p:sp>
        <p:nvSpPr>
          <p:cNvPr id="3" name="row-description-0">
            <a:extLst xmlns:a="http://schemas.openxmlformats.org/drawingml/2006/main">
              <a:ext uri="{FF2B5EF4-FFF2-40B4-BE49-F238E27FC236}">
                <a16:creationId xmlns:a16="http://schemas.microsoft.com/office/drawing/2014/main" id="{969734BF-3C18-4946-8681-856711F599B3}"/>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Use a selected namespace, a least-privilege service account and an opted-in Deployment.</a:t>
            </a:r>
          </a:p>
        </p:txBody>
      </p:sp>
      <p:sp>
        <p:nvSpPr>
          <p:cNvPr id="4" name="row-label-1">
            <a:extLst xmlns:a="http://schemas.openxmlformats.org/drawingml/2006/main">
              <a:ext uri="{FF2B5EF4-FFF2-40B4-BE49-F238E27FC236}">
                <a16:creationId xmlns:a16="http://schemas.microsoft.com/office/drawing/2014/main" id="{264A9053-55F4-4F1E-91F5-07F4AF07131F}"/>
              </a:ext>
            </a:extLst>
          </p:cNvPr>
          <p:cNvSpPr>
            <a:spLocks xmlns:a="http://schemas.openxmlformats.org/drawingml/2006/main" noGrp="1"/>
          </p:cNvSpPr>
          <p:nvPr/>
        </p:nvSpPr>
        <p:spPr>
          <a:xfrm xmlns:a="http://schemas.openxmlformats.org/drawingml/2006/main">
            <a:off x="628650" y="28098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Actual services and telemetry</a:t>
            </a:r>
          </a:p>
        </p:txBody>
      </p:sp>
      <p:sp>
        <p:nvSpPr>
          <p:cNvPr id="5" name="row-description-1">
            <a:extLst xmlns:a="http://schemas.openxmlformats.org/drawingml/2006/main">
              <a:ext uri="{FF2B5EF4-FFF2-40B4-BE49-F238E27FC236}">
                <a16:creationId xmlns:a16="http://schemas.microsoft.com/office/drawing/2014/main" id="{E27BA5FA-EBCA-4855-A023-33B170D63145}"/>
              </a:ext>
            </a:extLst>
          </p:cNvPr>
          <p:cNvSpPr>
            <a:spLocks xmlns:a="http://schemas.openxmlformats.org/drawingml/2006/main" noGrp="1"/>
          </p:cNvSpPr>
          <p:nvPr/>
        </p:nvSpPr>
        <p:spPr>
          <a:xfrm xmlns:a="http://schemas.openxmlformats.org/drawingml/2006/main">
            <a:off x="4095750" y="28098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Supply MongoDB, Prometheus, exporters and workload measurements. Missing data stays unavailable.</a:t>
            </a:r>
          </a:p>
        </p:txBody>
      </p:sp>
      <p:sp>
        <p:nvSpPr>
          <p:cNvPr id="6" name="row-label-2">
            <a:extLst xmlns:a="http://schemas.openxmlformats.org/drawingml/2006/main">
              <a:ext uri="{FF2B5EF4-FFF2-40B4-BE49-F238E27FC236}">
                <a16:creationId xmlns:a16="http://schemas.microsoft.com/office/drawing/2014/main" id="{3FB996C5-1C5B-41B9-97D9-55ECC8E9C1B0}"/>
              </a:ext>
            </a:extLst>
          </p:cNvPr>
          <p:cNvSpPr>
            <a:spLocks xmlns:a="http://schemas.openxmlformats.org/drawingml/2006/main" noGrp="1"/>
          </p:cNvSpPr>
          <p:nvPr/>
        </p:nvSpPr>
        <p:spPr>
          <a:xfrm xmlns:a="http://schemas.openxmlformats.org/drawingml/2006/main">
            <a:off x="628650" y="38766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Secure operation</a:t>
            </a:r>
          </a:p>
        </p:txBody>
      </p:sp>
      <p:sp>
        <p:nvSpPr>
          <p:cNvPr id="7" name="row-description-2">
            <a:extLst xmlns:a="http://schemas.openxmlformats.org/drawingml/2006/main">
              <a:ext uri="{FF2B5EF4-FFF2-40B4-BE49-F238E27FC236}">
                <a16:creationId xmlns:a16="http://schemas.microsoft.com/office/drawing/2014/main" id="{B2868C16-9169-4608-86FA-0A83EFEC4BE3}"/>
              </a:ext>
            </a:extLst>
          </p:cNvPr>
          <p:cNvSpPr>
            <a:spLocks xmlns:a="http://schemas.openxmlformats.org/drawingml/2006/main" noGrp="1"/>
          </p:cNvSpPr>
          <p:nvPr/>
        </p:nvSpPr>
        <p:spPr>
          <a:xfrm xmlns:a="http://schemas.openxmlformats.org/drawingml/2006/main">
            <a:off x="4095750" y="38766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Use strong credentials, private networking, appropriate TLS and reviewed recovery policy.</a:t>
            </a:r>
          </a:p>
        </p:txBody>
      </p:sp>
      <p:sp>
        <p:nvSpPr>
          <p:cNvPr id="8" name="row-label-3">
            <a:extLst xmlns:a="http://schemas.openxmlformats.org/drawingml/2006/main">
              <a:ext uri="{FF2B5EF4-FFF2-40B4-BE49-F238E27FC236}">
                <a16:creationId xmlns:a16="http://schemas.microsoft.com/office/drawing/2014/main" id="{42C89668-FF39-4BB8-81FA-5F81F28313A9}"/>
              </a:ext>
            </a:extLst>
          </p:cNvPr>
          <p:cNvSpPr>
            <a:spLocks xmlns:a="http://schemas.openxmlformats.org/drawingml/2006/main" noGrp="1"/>
          </p:cNvSpPr>
          <p:nvPr/>
        </p:nvSpPr>
        <p:spPr>
          <a:xfrm xmlns:a="http://schemas.openxmlformats.org/drawingml/2006/main">
            <a:off x="628650" y="49434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A verification plan</a:t>
            </a:r>
          </a:p>
        </p:txBody>
      </p:sp>
      <p:sp>
        <p:nvSpPr>
          <p:cNvPr id="9" name="row-description-3">
            <a:extLst xmlns:a="http://schemas.openxmlformats.org/drawingml/2006/main">
              <a:ext uri="{FF2B5EF4-FFF2-40B4-BE49-F238E27FC236}">
                <a16:creationId xmlns:a16="http://schemas.microsoft.com/office/drawing/2014/main" id="{9DDBC84E-281A-4ABC-AF19-8A895AF66166}"/>
              </a:ext>
            </a:extLst>
          </p:cNvPr>
          <p:cNvSpPr>
            <a:spLocks xmlns:a="http://schemas.openxmlformats.org/drawingml/2006/main" noGrp="1"/>
          </p:cNvSpPr>
          <p:nvPr/>
        </p:nvSpPr>
        <p:spPr>
          <a:xfrm xmlns:a="http://schemas.openxmlformats.org/drawingml/2006/main">
            <a:off x="4095750" y="49434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Test failure paths and backup procedures. Keep the backend at one worker and one replica.</a:t>
            </a:r>
          </a:p>
        </p:txBody>
      </p:sp>
      <p:sp>
        <p:nvSpPr>
          <p:cNvPr id="10" name="page-number">
            <a:extLst xmlns:a="http://schemas.openxmlformats.org/drawingml/2006/main">
              <a:ext uri="{FF2B5EF4-FFF2-40B4-BE49-F238E27FC236}">
                <a16:creationId xmlns:a16="http://schemas.microsoft.com/office/drawing/2014/main" id="{B7392212-F174-4DEA-B22F-0BA2A4000C19}"/>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18 / 25</a:t>
            </a:r>
          </a:p>
        </p:txBody>
      </p:sp>
    </p:spTree>
    <p:extLst>
      <p:ext uri="{BB962C8B-B14F-4D97-AF65-F5344CB8AC3E}">
        <p14:creationId xmlns:p14="http://schemas.microsoft.com/office/powerpoint/2010/main" val="62012903"/>
      </p:ext>
    </p:extLst>
  </p:cSld>
</p:sld>
</file>

<file path=ppt/slides/slide19.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94520410-E56F-4763-A082-FE7C5BE7E1B1}"/>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Current limits and future work</a:t>
            </a:r>
          </a:p>
        </p:txBody>
      </p:sp>
      <p:sp>
        <p:nvSpPr>
          <p:cNvPr id="2" name="column-label-0">
            <a:extLst xmlns:a="http://schemas.openxmlformats.org/drawingml/2006/main">
              <a:ext uri="{FF2B5EF4-FFF2-40B4-BE49-F238E27FC236}">
                <a16:creationId xmlns:a16="http://schemas.microsoft.com/office/drawing/2014/main" id="{9B91D2EE-48BC-464F-8053-DFB20FCB052F}"/>
              </a:ext>
            </a:extLst>
          </p:cNvPr>
          <p:cNvSpPr>
            <a:spLocks xmlns:a="http://schemas.openxmlformats.org/drawingml/2006/main" noGrp="1"/>
          </p:cNvSpPr>
          <p:nvPr/>
        </p:nvSpPr>
        <p:spPr>
          <a:xfrm xmlns:a="http://schemas.openxmlformats.org/drawingml/2006/main">
            <a:off x="628650"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Current boundaries</a:t>
            </a:r>
          </a:p>
        </p:txBody>
      </p:sp>
      <p:sp>
        <p:nvSpPr>
          <p:cNvPr id="3" name="column-body-0">
            <a:extLst xmlns:a="http://schemas.openxmlformats.org/drawingml/2006/main">
              <a:ext uri="{FF2B5EF4-FFF2-40B4-BE49-F238E27FC236}">
                <a16:creationId xmlns:a16="http://schemas.microsoft.com/office/drawing/2014/main" id="{56D1EE89-B126-4F5A-8446-7A733688D65B}"/>
              </a:ext>
            </a:extLst>
          </p:cNvPr>
          <p:cNvSpPr>
            <a:spLocks xmlns:a="http://schemas.openxmlformats.org/drawingml/2006/main" noGrp="1"/>
          </p:cNvSpPr>
          <p:nvPr/>
        </p:nvSpPr>
        <p:spPr>
          <a:xfrm xmlns:a="http://schemas.openxmlformats.org/drawingml/2006/main">
            <a:off x="628650"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Synthetic model training and demonstration data.</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No calibrated failure probability or time-to-failure.</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Single-process backend and best-effort optional notifications.</a:t>
            </a:r>
          </a:p>
        </p:txBody>
      </p:sp>
      <p:sp>
        <p:nvSpPr>
          <p:cNvPr id="4" name="column-label-1">
            <a:extLst xmlns:a="http://schemas.openxmlformats.org/drawingml/2006/main">
              <a:ext uri="{FF2B5EF4-FFF2-40B4-BE49-F238E27FC236}">
                <a16:creationId xmlns:a16="http://schemas.microsoft.com/office/drawing/2014/main" id="{F97FDE71-B7DD-4BEB-B088-029871E241D4}"/>
              </a:ext>
            </a:extLst>
          </p:cNvPr>
          <p:cNvSpPr>
            <a:spLocks xmlns:a="http://schemas.openxmlformats.org/drawingml/2006/main" noGrp="1"/>
          </p:cNvSpPr>
          <p:nvPr/>
        </p:nvSpPr>
        <p:spPr>
          <a:xfrm xmlns:a="http://schemas.openxmlformats.org/drawingml/2006/main">
            <a:off x="6505575"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Future engineering work</a:t>
            </a:r>
          </a:p>
        </p:txBody>
      </p:sp>
      <p:sp>
        <p:nvSpPr>
          <p:cNvPr id="5" name="column-body-1">
            <a:extLst xmlns:a="http://schemas.openxmlformats.org/drawingml/2006/main">
              <a:ext uri="{FF2B5EF4-FFF2-40B4-BE49-F238E27FC236}">
                <a16:creationId xmlns:a16="http://schemas.microsoft.com/office/drawing/2014/main" id="{72C15D49-AE7E-48C1-B7D8-0BF6DC5B60B5}"/>
              </a:ext>
            </a:extLst>
          </p:cNvPr>
          <p:cNvSpPr>
            <a:spLocks xmlns:a="http://schemas.openxmlformats.org/drawingml/2006/main" noGrp="1"/>
          </p:cNvSpPr>
          <p:nvPr/>
        </p:nvSpPr>
        <p:spPr>
          <a:xfrm xmlns:a="http://schemas.openxmlformats.org/drawingml/2006/main">
            <a:off x="6505575"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Real labelled failure data and separate temporal evaluation.</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Distributed action claims and cluster-specific authorization.</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Durable delivery, broader recovery testing and production validation.</a:t>
            </a:r>
          </a:p>
        </p:txBody>
      </p:sp>
      <p:sp>
        <p:nvSpPr>
          <p:cNvPr id="6" name="page-number">
            <a:extLst xmlns:a="http://schemas.openxmlformats.org/drawingml/2006/main">
              <a:ext uri="{FF2B5EF4-FFF2-40B4-BE49-F238E27FC236}">
                <a16:creationId xmlns:a16="http://schemas.microsoft.com/office/drawing/2014/main" id="{7EEEBDD9-3145-42E1-A6F2-3876A3E78212}"/>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19 / 25</a:t>
            </a:r>
          </a:p>
        </p:txBody>
      </p:sp>
    </p:spTree>
    <p:extLst>
      <p:ext uri="{BB962C8B-B14F-4D97-AF65-F5344CB8AC3E}">
        <p14:creationId xmlns:p14="http://schemas.microsoft.com/office/powerpoint/2010/main" val="1920666044"/>
      </p:ext>
    </p:extLst>
  </p:cSld>
</p:sld>
</file>

<file path=ppt/slides/slide2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slide-title">
            <a:extLst xmlns:a="http://schemas.openxmlformats.org/drawingml/2006/main">
              <a:ext uri="{FF2B5EF4-FFF2-40B4-BE49-F238E27FC236}">
                <a16:creationId xmlns:a16="http://schemas.microsoft.com/office/drawing/2014/main" id="{29A12641-C8D1-42DD-9967-BF8CFECEDCFF}"/>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The autonomous recovery loop</a:t>
            </a:r>
          </a:p>
        </p:txBody>
      </p:sp>
      <p:sp>
        <p:nvSpPr>
          <p:cNvPr id="2" name="step-number-0">
            <a:extLst xmlns:a="http://schemas.openxmlformats.org/drawingml/2006/main">
              <a:ext uri="{FF2B5EF4-FFF2-40B4-BE49-F238E27FC236}">
                <a16:creationId xmlns:a16="http://schemas.microsoft.com/office/drawing/2014/main" id="{787EB1DA-8090-47E3-9A8B-598FC169377D}"/>
              </a:ext>
            </a:extLst>
          </p:cNvPr>
          <p:cNvSpPr>
            <a:spLocks xmlns:a="http://schemas.openxmlformats.org/drawingml/2006/main" noGrp="1"/>
          </p:cNvSpPr>
          <p:nvPr/>
        </p:nvSpPr>
        <p:spPr>
          <a:xfrm xmlns:a="http://schemas.openxmlformats.org/drawingml/2006/main">
            <a:off x="628650" y="17430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01</a:t>
            </a:r>
          </a:p>
        </p:txBody>
      </p:sp>
      <p:sp>
        <p:nvSpPr>
          <p:cNvPr id="3" name="step-title-0">
            <a:extLst xmlns:a="http://schemas.openxmlformats.org/drawingml/2006/main">
              <a:ext uri="{FF2B5EF4-FFF2-40B4-BE49-F238E27FC236}">
                <a16:creationId xmlns:a16="http://schemas.microsoft.com/office/drawing/2014/main" id="{0872A81B-E183-4B64-A03B-8BC3232011D7}"/>
              </a:ext>
            </a:extLst>
          </p:cNvPr>
          <p:cNvSpPr>
            <a:spLocks xmlns:a="http://schemas.openxmlformats.org/drawingml/2006/main" noGrp="1"/>
          </p:cNvSpPr>
          <p:nvPr/>
        </p:nvSpPr>
        <p:spPr>
          <a:xfrm xmlns:a="http://schemas.openxmlformats.org/drawingml/2006/main">
            <a:off x="1504950" y="17430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Attribute the evidence</a:t>
            </a:r>
          </a:p>
        </p:txBody>
      </p:sp>
      <p:sp>
        <p:nvSpPr>
          <p:cNvPr id="4" name="step-description-0">
            <a:extLst xmlns:a="http://schemas.openxmlformats.org/drawingml/2006/main">
              <a:ext uri="{FF2B5EF4-FFF2-40B4-BE49-F238E27FC236}">
                <a16:creationId xmlns:a16="http://schemas.microsoft.com/office/drawing/2014/main" id="{E1D88A41-1740-46F8-A62B-C7C411413E97}"/>
              </a:ext>
            </a:extLst>
          </p:cNvPr>
          <p:cNvSpPr>
            <a:spLocks xmlns:a="http://schemas.openxmlformats.org/drawingml/2006/main" noGrp="1"/>
          </p:cNvSpPr>
          <p:nvPr/>
        </p:nvSpPr>
        <p:spPr>
          <a:xfrm xmlns:a="http://schemas.openxmlformats.org/drawingml/2006/main">
            <a:off x="4552950" y="17430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Follow Deployment and ReplicaSet controller UIDs to exact owned Pods.</a:t>
            </a:r>
          </a:p>
        </p:txBody>
      </p:sp>
      <p:sp>
        <p:nvSpPr>
          <p:cNvPr id="5" name="step-number-1">
            <a:extLst xmlns:a="http://schemas.openxmlformats.org/drawingml/2006/main">
              <a:ext uri="{FF2B5EF4-FFF2-40B4-BE49-F238E27FC236}">
                <a16:creationId xmlns:a16="http://schemas.microsoft.com/office/drawing/2014/main" id="{77D2E47D-7503-4B8E-89DD-B2354B0983FE}"/>
              </a:ext>
            </a:extLst>
          </p:cNvPr>
          <p:cNvSpPr>
            <a:spLocks xmlns:a="http://schemas.openxmlformats.org/drawingml/2006/main" noGrp="1"/>
          </p:cNvSpPr>
          <p:nvPr/>
        </p:nvSpPr>
        <p:spPr>
          <a:xfrm xmlns:a="http://schemas.openxmlformats.org/drawingml/2006/main">
            <a:off x="628650" y="28098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02</a:t>
            </a:r>
          </a:p>
        </p:txBody>
      </p:sp>
      <p:sp>
        <p:nvSpPr>
          <p:cNvPr id="6" name="step-title-1">
            <a:extLst xmlns:a="http://schemas.openxmlformats.org/drawingml/2006/main">
              <a:ext uri="{FF2B5EF4-FFF2-40B4-BE49-F238E27FC236}">
                <a16:creationId xmlns:a16="http://schemas.microsoft.com/office/drawing/2014/main" id="{35D1A9EF-1129-44BD-B9DA-AE2B00AEFA62}"/>
              </a:ext>
            </a:extLst>
          </p:cNvPr>
          <p:cNvSpPr>
            <a:spLocks xmlns:a="http://schemas.openxmlformats.org/drawingml/2006/main" noGrp="1"/>
          </p:cNvSpPr>
          <p:nvPr/>
        </p:nvSpPr>
        <p:spPr>
          <a:xfrm xmlns:a="http://schemas.openxmlformats.org/drawingml/2006/main">
            <a:off x="1504950" y="28098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Confirm the condition</a:t>
            </a:r>
          </a:p>
        </p:txBody>
      </p:sp>
      <p:sp>
        <p:nvSpPr>
          <p:cNvPr id="7" name="step-description-1">
            <a:extLst xmlns:a="http://schemas.openxmlformats.org/drawingml/2006/main">
              <a:ext uri="{FF2B5EF4-FFF2-40B4-BE49-F238E27FC236}">
                <a16:creationId xmlns:a16="http://schemas.microsoft.com/office/drawing/2014/main" id="{7AB0D752-F43B-4AF6-8058-399173497ABA}"/>
              </a:ext>
            </a:extLst>
          </p:cNvPr>
          <p:cNvSpPr>
            <a:spLocks xmlns:a="http://schemas.openxmlformats.org/drawingml/2006/main" noGrp="1"/>
          </p:cNvSpPr>
          <p:nvPr/>
        </p:nvSpPr>
        <p:spPr>
          <a:xfrm xmlns:a="http://schemas.openxmlformats.org/drawingml/2006/main">
            <a:off x="4552950" y="28098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Require three distinct fresh source samples and stable workload identity.</a:t>
            </a:r>
          </a:p>
        </p:txBody>
      </p:sp>
      <p:sp>
        <p:nvSpPr>
          <p:cNvPr id="8" name="step-number-2">
            <a:extLst xmlns:a="http://schemas.openxmlformats.org/drawingml/2006/main">
              <a:ext uri="{FF2B5EF4-FFF2-40B4-BE49-F238E27FC236}">
                <a16:creationId xmlns:a16="http://schemas.microsoft.com/office/drawing/2014/main" id="{342348CE-E732-4595-98DB-9B77D5D81DD8}"/>
              </a:ext>
            </a:extLst>
          </p:cNvPr>
          <p:cNvSpPr>
            <a:spLocks xmlns:a="http://schemas.openxmlformats.org/drawingml/2006/main" noGrp="1"/>
          </p:cNvSpPr>
          <p:nvPr/>
        </p:nvSpPr>
        <p:spPr>
          <a:xfrm xmlns:a="http://schemas.openxmlformats.org/drawingml/2006/main">
            <a:off x="628650" y="38766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03</a:t>
            </a:r>
          </a:p>
        </p:txBody>
      </p:sp>
      <p:sp>
        <p:nvSpPr>
          <p:cNvPr id="9" name="step-title-2">
            <a:extLst xmlns:a="http://schemas.openxmlformats.org/drawingml/2006/main">
              <a:ext uri="{FF2B5EF4-FFF2-40B4-BE49-F238E27FC236}">
                <a16:creationId xmlns:a16="http://schemas.microsoft.com/office/drawing/2014/main" id="{9FE4A029-33D3-4A51-B329-A8B7AD452C70}"/>
              </a:ext>
            </a:extLst>
          </p:cNvPr>
          <p:cNvSpPr>
            <a:spLocks xmlns:a="http://schemas.openxmlformats.org/drawingml/2006/main" noGrp="1"/>
          </p:cNvSpPr>
          <p:nvPr/>
        </p:nvSpPr>
        <p:spPr>
          <a:xfrm xmlns:a="http://schemas.openxmlformats.org/drawingml/2006/main">
            <a:off x="1504950" y="38766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Execute one runbook</a:t>
            </a:r>
          </a:p>
        </p:txBody>
      </p:sp>
      <p:sp>
        <p:nvSpPr>
          <p:cNvPr id="10" name="step-description-2">
            <a:extLst xmlns:a="http://schemas.openxmlformats.org/drawingml/2006/main">
              <a:ext uri="{FF2B5EF4-FFF2-40B4-BE49-F238E27FC236}">
                <a16:creationId xmlns:a16="http://schemas.microsoft.com/office/drawing/2014/main" id="{6683324F-A72B-4A2E-9CA4-6CAE32FF47F7}"/>
              </a:ext>
            </a:extLst>
          </p:cNvPr>
          <p:cNvSpPr>
            <a:spLocks xmlns:a="http://schemas.openxmlformats.org/drawingml/2006/main" noGrp="1"/>
          </p:cNvSpPr>
          <p:nvPr/>
        </p:nvSpPr>
        <p:spPr>
          <a:xfrm xmlns:a="http://schemas.openxmlformats.org/drawingml/2006/main">
            <a:off x="4552950" y="38766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Use the shared action limits and recheck labels, identity and resource version.</a:t>
            </a:r>
          </a:p>
        </p:txBody>
      </p:sp>
      <p:sp>
        <p:nvSpPr>
          <p:cNvPr id="11" name="step-number-3">
            <a:extLst xmlns:a="http://schemas.openxmlformats.org/drawingml/2006/main">
              <a:ext uri="{FF2B5EF4-FFF2-40B4-BE49-F238E27FC236}">
                <a16:creationId xmlns:a16="http://schemas.microsoft.com/office/drawing/2014/main" id="{CCFEB8AB-6D2E-4C86-A62B-D070A0D96BC0}"/>
              </a:ext>
            </a:extLst>
          </p:cNvPr>
          <p:cNvSpPr>
            <a:spLocks xmlns:a="http://schemas.openxmlformats.org/drawingml/2006/main" noGrp="1"/>
          </p:cNvSpPr>
          <p:nvPr/>
        </p:nvSpPr>
        <p:spPr>
          <a:xfrm xmlns:a="http://schemas.openxmlformats.org/drawingml/2006/main">
            <a:off x="628650" y="4943475"/>
            <a:ext cx="619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9C9FA4"/>
                </a:solidFill>
                <a:latin typeface="Arial"/>
                <a:ea typeface="Arial"/>
                <a:cs typeface="Arial"/>
              </a:defRPr>
            </a:defPPr>
            <a:lvl1pPr algn="l">
              <a:defRPr sz="2325" b="0">
                <a:solidFill>
                  <a:srgbClr val="9C9FA4"/>
                </a:solidFill>
                <a:latin typeface="Arial"/>
                <a:ea typeface="Arial"/>
                <a:cs typeface="Arial"/>
              </a:defRPr>
            </a:lvl1pPr>
            <a:lvl2pPr algn="l">
              <a:defRPr sz="2325" b="0">
                <a:solidFill>
                  <a:srgbClr val="9C9FA4"/>
                </a:solidFill>
                <a:latin typeface="Arial"/>
                <a:ea typeface="Arial"/>
                <a:cs typeface="Arial"/>
              </a:defRPr>
            </a:lvl2pPr>
            <a:lvl3pPr algn="l">
              <a:defRPr sz="2325" b="0">
                <a:solidFill>
                  <a:srgbClr val="9C9FA4"/>
                </a:solidFill>
                <a:latin typeface="Arial"/>
                <a:ea typeface="Arial"/>
                <a:cs typeface="Arial"/>
              </a:defRPr>
            </a:lvl3pPr>
            <a:lvl4pPr algn="l">
              <a:defRPr sz="2325" b="0">
                <a:solidFill>
                  <a:srgbClr val="9C9FA4"/>
                </a:solidFill>
                <a:latin typeface="Arial"/>
                <a:ea typeface="Arial"/>
                <a:cs typeface="Arial"/>
              </a:defRPr>
            </a:lvl4pPr>
            <a:lvl5pPr algn="l">
              <a:defRPr sz="2325" b="0">
                <a:solidFill>
                  <a:srgbClr val="9C9FA4"/>
                </a:solidFill>
                <a:latin typeface="Arial"/>
                <a:ea typeface="Arial"/>
                <a:cs typeface="Arial"/>
              </a:defRPr>
            </a:lvl5pPr>
            <a:lvl6pPr algn="l">
              <a:defRPr sz="2325" b="0">
                <a:solidFill>
                  <a:srgbClr val="9C9FA4"/>
                </a:solidFill>
                <a:latin typeface="Arial"/>
                <a:ea typeface="Arial"/>
                <a:cs typeface="Arial"/>
              </a:defRPr>
            </a:lvl6pPr>
            <a:lvl7pPr algn="l">
              <a:defRPr sz="2325" b="0">
                <a:solidFill>
                  <a:srgbClr val="9C9FA4"/>
                </a:solidFill>
                <a:latin typeface="Arial"/>
                <a:ea typeface="Arial"/>
                <a:cs typeface="Arial"/>
              </a:defRPr>
            </a:lvl7pPr>
            <a:lvl8pPr algn="l">
              <a:defRPr sz="2325" b="0">
                <a:solidFill>
                  <a:srgbClr val="9C9FA4"/>
                </a:solidFill>
                <a:latin typeface="Arial"/>
                <a:ea typeface="Arial"/>
                <a:cs typeface="Arial"/>
              </a:defRPr>
            </a:lvl8pPr>
            <a:lvl9pPr algn="l">
              <a:defRPr sz="2325" b="0">
                <a:solidFill>
                  <a:srgbClr val="9C9FA4"/>
                </a:solidFill>
                <a:latin typeface="Arial"/>
                <a:ea typeface="Arial"/>
                <a:cs typeface="Arial"/>
              </a:defRPr>
            </a:lvl9pPr>
          </a:lstStyle>
          <a:p xmlns:a="http://schemas.openxmlformats.org/drawingml/2006/main">
            <a:pPr algn="l">
              <a:lnSpc>
                <a:spcPct val="118000"/>
              </a:lnSpc>
              <a:buNone/>
              <a:defRPr sz="2325" b="0">
                <a:solidFill>
                  <a:srgbClr val="9C9FA4"/>
                </a:solidFill>
                <a:latin typeface="Arial"/>
                <a:ea typeface="Arial"/>
                <a:cs typeface="Arial"/>
              </a:defRPr>
            </a:pPr>
            <a:r>
              <a:rPr sz="2325" b="0">
                <a:solidFill>
                  <a:srgbClr val="9C9FA4"/>
                </a:solidFill>
                <a:latin typeface="Arial"/>
                <a:ea typeface="Arial"/>
                <a:cs typeface="Arial"/>
              </a:rPr>
              <a:t>04</a:t>
            </a:r>
          </a:p>
        </p:txBody>
      </p:sp>
      <p:sp>
        <p:nvSpPr>
          <p:cNvPr id="12" name="step-title-3">
            <a:extLst xmlns:a="http://schemas.openxmlformats.org/drawingml/2006/main">
              <a:ext uri="{FF2B5EF4-FFF2-40B4-BE49-F238E27FC236}">
                <a16:creationId xmlns:a16="http://schemas.microsoft.com/office/drawing/2014/main" id="{E874B28D-4681-4F56-80DF-4D1E4AF7B655}"/>
              </a:ext>
            </a:extLst>
          </p:cNvPr>
          <p:cNvSpPr>
            <a:spLocks xmlns:a="http://schemas.openxmlformats.org/drawingml/2006/main" noGrp="1"/>
          </p:cNvSpPr>
          <p:nvPr/>
        </p:nvSpPr>
        <p:spPr>
          <a:xfrm xmlns:a="http://schemas.openxmlformats.org/drawingml/2006/main">
            <a:off x="1504950" y="4943475"/>
            <a:ext cx="26289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2F2F2"/>
                </a:solidFill>
                <a:latin typeface="Arial"/>
                <a:ea typeface="Arial"/>
                <a:cs typeface="Arial"/>
              </a:defRPr>
            </a:defPPr>
            <a:lvl1pPr algn="l">
              <a:defRPr sz="1875" b="0">
                <a:solidFill>
                  <a:srgbClr val="F2F2F2"/>
                </a:solidFill>
                <a:latin typeface="Arial"/>
                <a:ea typeface="Arial"/>
                <a:cs typeface="Arial"/>
              </a:defRPr>
            </a:lvl1pPr>
            <a:lvl2pPr algn="l">
              <a:defRPr sz="1875" b="0">
                <a:solidFill>
                  <a:srgbClr val="F2F2F2"/>
                </a:solidFill>
                <a:latin typeface="Arial"/>
                <a:ea typeface="Arial"/>
                <a:cs typeface="Arial"/>
              </a:defRPr>
            </a:lvl2pPr>
            <a:lvl3pPr algn="l">
              <a:defRPr sz="1875" b="0">
                <a:solidFill>
                  <a:srgbClr val="F2F2F2"/>
                </a:solidFill>
                <a:latin typeface="Arial"/>
                <a:ea typeface="Arial"/>
                <a:cs typeface="Arial"/>
              </a:defRPr>
            </a:lvl3pPr>
            <a:lvl4pPr algn="l">
              <a:defRPr sz="1875" b="0">
                <a:solidFill>
                  <a:srgbClr val="F2F2F2"/>
                </a:solidFill>
                <a:latin typeface="Arial"/>
                <a:ea typeface="Arial"/>
                <a:cs typeface="Arial"/>
              </a:defRPr>
            </a:lvl4pPr>
            <a:lvl5pPr algn="l">
              <a:defRPr sz="1875" b="0">
                <a:solidFill>
                  <a:srgbClr val="F2F2F2"/>
                </a:solidFill>
                <a:latin typeface="Arial"/>
                <a:ea typeface="Arial"/>
                <a:cs typeface="Arial"/>
              </a:defRPr>
            </a:lvl5pPr>
            <a:lvl6pPr algn="l">
              <a:defRPr sz="1875" b="0">
                <a:solidFill>
                  <a:srgbClr val="F2F2F2"/>
                </a:solidFill>
                <a:latin typeface="Arial"/>
                <a:ea typeface="Arial"/>
                <a:cs typeface="Arial"/>
              </a:defRPr>
            </a:lvl6pPr>
            <a:lvl7pPr algn="l">
              <a:defRPr sz="1875" b="0">
                <a:solidFill>
                  <a:srgbClr val="F2F2F2"/>
                </a:solidFill>
                <a:latin typeface="Arial"/>
                <a:ea typeface="Arial"/>
                <a:cs typeface="Arial"/>
              </a:defRPr>
            </a:lvl7pPr>
            <a:lvl8pPr algn="l">
              <a:defRPr sz="1875" b="0">
                <a:solidFill>
                  <a:srgbClr val="F2F2F2"/>
                </a:solidFill>
                <a:latin typeface="Arial"/>
                <a:ea typeface="Arial"/>
                <a:cs typeface="Arial"/>
              </a:defRPr>
            </a:lvl8pPr>
            <a:lvl9pPr algn="l">
              <a:defRPr sz="1875" b="0">
                <a:solidFill>
                  <a:srgbClr val="F2F2F2"/>
                </a:solidFill>
                <a:latin typeface="Arial"/>
                <a:ea typeface="Arial"/>
                <a:cs typeface="Arial"/>
              </a:defRPr>
            </a:lvl9pPr>
          </a:lstStyle>
          <a:p xmlns:a="http://schemas.openxmlformats.org/drawingml/2006/main">
            <a:pPr algn="l">
              <a:lnSpc>
                <a:spcPct val="118000"/>
              </a:lnSpc>
              <a:buNone/>
              <a:defRPr sz="1875" b="0">
                <a:solidFill>
                  <a:srgbClr val="F2F2F2"/>
                </a:solidFill>
                <a:latin typeface="Arial"/>
                <a:ea typeface="Arial"/>
                <a:cs typeface="Arial"/>
              </a:defRPr>
            </a:pPr>
            <a:r>
              <a:rPr sz="1875" b="0">
                <a:solidFill>
                  <a:srgbClr val="F2F2F2"/>
                </a:solidFill>
                <a:latin typeface="Arial"/>
                <a:ea typeface="Arial"/>
                <a:cs typeface="Arial"/>
              </a:rPr>
              <a:t>Verify and record</a:t>
            </a:r>
          </a:p>
        </p:txBody>
      </p:sp>
      <p:sp>
        <p:nvSpPr>
          <p:cNvPr id="13" name="step-description-3">
            <a:extLst xmlns:a="http://schemas.openxmlformats.org/drawingml/2006/main">
              <a:ext uri="{FF2B5EF4-FFF2-40B4-BE49-F238E27FC236}">
                <a16:creationId xmlns:a16="http://schemas.microsoft.com/office/drawing/2014/main" id="{0ED136F4-4CA0-4C7E-9737-8E6BDF3CF6A5}"/>
              </a:ext>
            </a:extLst>
          </p:cNvPr>
          <p:cNvSpPr>
            <a:spLocks xmlns:a="http://schemas.openxmlformats.org/drawingml/2006/main" noGrp="1"/>
          </p:cNvSpPr>
          <p:nvPr/>
        </p:nvSpPr>
        <p:spPr>
          <a:xfrm xmlns:a="http://schemas.openxmlformats.org/drawingml/2006/main">
            <a:off x="4552950" y="4943475"/>
            <a:ext cx="683895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Check rollout and healthy telemetry; resolve the incident or pause on failure.</a:t>
            </a:r>
          </a:p>
        </p:txBody>
      </p:sp>
      <p:sp>
        <p:nvSpPr>
          <p:cNvPr id="14" name="page-number">
            <a:extLst xmlns:a="http://schemas.openxmlformats.org/drawingml/2006/main">
              <a:ext uri="{FF2B5EF4-FFF2-40B4-BE49-F238E27FC236}">
                <a16:creationId xmlns:a16="http://schemas.microsoft.com/office/drawing/2014/main" id="{5B34EDFA-532B-4CED-BA39-9BE6DED65565}"/>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20 / 25</a:t>
            </a:r>
          </a:p>
        </p:txBody>
      </p:sp>
    </p:spTree>
    <p:extLst>
      <p:ext uri="{BB962C8B-B14F-4D97-AF65-F5344CB8AC3E}">
        <p14:creationId xmlns:p14="http://schemas.microsoft.com/office/powerpoint/2010/main" val="83616490"/>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CC3C23E5-6BF9-4383-BECC-0DA9F7486CBA}"/>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The supported live runbooks</a:t>
            </a:r>
          </a:p>
        </p:txBody>
      </p:sp>
      <p:sp>
        <p:nvSpPr>
          <p:cNvPr id="2" name="row-label-0">
            <a:extLst xmlns:a="http://schemas.openxmlformats.org/drawingml/2006/main">
              <a:ext uri="{FF2B5EF4-FFF2-40B4-BE49-F238E27FC236}">
                <a16:creationId xmlns:a16="http://schemas.microsoft.com/office/drawing/2014/main" id="{A99325D8-CD03-4FF9-994C-928CFD46CF4B}"/>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CPU pressure</a:t>
            </a:r>
          </a:p>
        </p:txBody>
      </p:sp>
      <p:sp>
        <p:nvSpPr>
          <p:cNvPr id="3" name="row-description-0">
            <a:extLst xmlns:a="http://schemas.openxmlformats.org/drawingml/2006/main">
              <a:ext uri="{FF2B5EF4-FFF2-40B4-BE49-F238E27FC236}">
                <a16:creationId xmlns:a16="http://schemas.microsoft.com/office/drawing/2014/main" id="{B9944C19-5278-41C8-A46F-37C06DCC54C8}"/>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Above 80% of a container CPU limit: add one replica, up to the configured maximum.</a:t>
            </a:r>
          </a:p>
        </p:txBody>
      </p:sp>
      <p:sp>
        <p:nvSpPr>
          <p:cNvPr id="4" name="row-label-1">
            <a:extLst xmlns:a="http://schemas.openxmlformats.org/drawingml/2006/main">
              <a:ext uri="{FF2B5EF4-FFF2-40B4-BE49-F238E27FC236}">
                <a16:creationId xmlns:a16="http://schemas.microsoft.com/office/drawing/2014/main" id="{A5CC64DA-368B-4E8E-BD49-2D36D1189D71}"/>
              </a:ext>
            </a:extLst>
          </p:cNvPr>
          <p:cNvSpPr>
            <a:spLocks xmlns:a="http://schemas.openxmlformats.org/drawingml/2006/main" noGrp="1"/>
          </p:cNvSpPr>
          <p:nvPr/>
        </p:nvSpPr>
        <p:spPr>
          <a:xfrm xmlns:a="http://schemas.openxmlformats.org/drawingml/2006/main">
            <a:off x="628650" y="30480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Repeated restarts</a:t>
            </a:r>
          </a:p>
        </p:txBody>
      </p:sp>
      <p:sp>
        <p:nvSpPr>
          <p:cNvPr id="5" name="row-description-1">
            <a:extLst xmlns:a="http://schemas.openxmlformats.org/drawingml/2006/main">
              <a:ext uri="{FF2B5EF4-FFF2-40B4-BE49-F238E27FC236}">
                <a16:creationId xmlns:a16="http://schemas.microsoft.com/office/drawing/2014/main" id="{23A65390-20EB-4ABB-B23E-5F3AE616424E}"/>
              </a:ext>
            </a:extLst>
          </p:cNvPr>
          <p:cNvSpPr>
            <a:spLocks xmlns:a="http://schemas.openxmlformats.org/drawingml/2006/main" noGrp="1"/>
          </p:cNvSpPr>
          <p:nvPr/>
        </p:nvSpPr>
        <p:spPr>
          <a:xfrm xmlns:a="http://schemas.openxmlformats.org/drawingml/2006/main">
            <a:off x="4095750" y="30480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More than five restarts across owned Pods in one minute: request a rollout restart.</a:t>
            </a:r>
          </a:p>
        </p:txBody>
      </p:sp>
      <p:sp>
        <p:nvSpPr>
          <p:cNvPr id="6" name="row-label-2">
            <a:extLst xmlns:a="http://schemas.openxmlformats.org/drawingml/2006/main">
              <a:ext uri="{FF2B5EF4-FFF2-40B4-BE49-F238E27FC236}">
                <a16:creationId xmlns:a16="http://schemas.microsoft.com/office/drawing/2014/main" id="{C4679AD2-F8B7-4B31-BE3E-565ADE4D6A59}"/>
              </a:ext>
            </a:extLst>
          </p:cNvPr>
          <p:cNvSpPr>
            <a:spLocks xmlns:a="http://schemas.openxmlformats.org/drawingml/2006/main" noGrp="1"/>
          </p:cNvSpPr>
          <p:nvPr/>
        </p:nvSpPr>
        <p:spPr>
          <a:xfrm xmlns:a="http://schemas.openxmlformats.org/drawingml/2006/main">
            <a:off x="628650" y="43529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Other symptoms</a:t>
            </a:r>
          </a:p>
        </p:txBody>
      </p:sp>
      <p:sp>
        <p:nvSpPr>
          <p:cNvPr id="7" name="row-description-2">
            <a:extLst xmlns:a="http://schemas.openxmlformats.org/drawingml/2006/main">
              <a:ext uri="{FF2B5EF4-FFF2-40B4-BE49-F238E27FC236}">
                <a16:creationId xmlns:a16="http://schemas.microsoft.com/office/drawing/2014/main" id="{0A6059BD-A56E-49DE-BA56-EF385361381A}"/>
              </a:ext>
            </a:extLst>
          </p:cNvPr>
          <p:cNvSpPr>
            <a:spLocks xmlns:a="http://schemas.openxmlformats.org/drawingml/2006/main" noGrp="1"/>
          </p:cNvSpPr>
          <p:nvPr/>
        </p:nvSpPr>
        <p:spPr>
          <a:xfrm xmlns:a="http://schemas.openxmlformats.org/drawingml/2006/main">
            <a:off x="4095750" y="435292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Memory and latency support investigation; they do not independently select a live repair.</a:t>
            </a:r>
          </a:p>
        </p:txBody>
      </p:sp>
      <p:sp>
        <p:nvSpPr>
          <p:cNvPr id="8" name="page-number">
            <a:extLst xmlns:a="http://schemas.openxmlformats.org/drawingml/2006/main">
              <a:ext uri="{FF2B5EF4-FFF2-40B4-BE49-F238E27FC236}">
                <a16:creationId xmlns:a16="http://schemas.microsoft.com/office/drawing/2014/main" id="{74A9D335-E0A3-462C-809E-A07C9BE22056}"/>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21 / 25</a:t>
            </a:r>
          </a:p>
        </p:txBody>
      </p:sp>
    </p:spTree>
    <p:extLst>
      <p:ext uri="{BB962C8B-B14F-4D97-AF65-F5344CB8AC3E}">
        <p14:creationId xmlns:p14="http://schemas.microsoft.com/office/powerpoint/2010/main" val="1986554368"/>
      </p:ext>
    </p:extLst>
  </p:cSld>
</p:sld>
</file>

<file path=ppt/slides/slide22.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D698E77-9AC3-449C-AA24-CF7E32639592}"/>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Enabling a live target</a:t>
            </a:r>
          </a:p>
        </p:txBody>
      </p:sp>
      <p:sp>
        <p:nvSpPr>
          <p:cNvPr id="2" name="row-label-0">
            <a:extLst xmlns:a="http://schemas.openxmlformats.org/drawingml/2006/main">
              <a:ext uri="{FF2B5EF4-FFF2-40B4-BE49-F238E27FC236}">
                <a16:creationId xmlns:a16="http://schemas.microsoft.com/office/drawing/2014/main" id="{0C33D073-0F01-4F20-9A9E-657E40CDFD77}"/>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Startup policy</a:t>
            </a:r>
          </a:p>
        </p:txBody>
      </p:sp>
      <p:sp>
        <p:nvSpPr>
          <p:cNvPr id="3" name="row-description-0">
            <a:extLst xmlns:a="http://schemas.openxmlformats.org/drawingml/2006/main">
              <a:ext uri="{FF2B5EF4-FFF2-40B4-BE49-F238E27FC236}">
                <a16:creationId xmlns:a16="http://schemas.microsoft.com/office/drawing/2014/main" id="{C35FFFC7-20B7-471F-A32C-FA20F8E68725}"/>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Enable automatic mode at startup and name exact targets. Begin with dry-run.</a:t>
            </a:r>
          </a:p>
        </p:txBody>
      </p:sp>
      <p:sp>
        <p:nvSpPr>
          <p:cNvPr id="4" name="row-label-1">
            <a:extLst xmlns:a="http://schemas.openxmlformats.org/drawingml/2006/main">
              <a:ext uri="{FF2B5EF4-FFF2-40B4-BE49-F238E27FC236}">
                <a16:creationId xmlns:a16="http://schemas.microsoft.com/office/drawing/2014/main" id="{BDBA0AE3-43CD-450C-9F86-3B7DD950CC07}"/>
              </a:ext>
            </a:extLst>
          </p:cNvPr>
          <p:cNvSpPr>
            <a:spLocks xmlns:a="http://schemas.openxmlformats.org/drawingml/2006/main" noGrp="1"/>
          </p:cNvSpPr>
          <p:nvPr/>
        </p:nvSpPr>
        <p:spPr>
          <a:xfrm xmlns:a="http://schemas.openxmlformats.org/drawingml/2006/main">
            <a:off x="628650" y="28098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Workload permission</a:t>
            </a:r>
          </a:p>
        </p:txBody>
      </p:sp>
      <p:sp>
        <p:nvSpPr>
          <p:cNvPr id="5" name="row-description-1">
            <a:extLst xmlns:a="http://schemas.openxmlformats.org/drawingml/2006/main">
              <a:ext uri="{FF2B5EF4-FFF2-40B4-BE49-F238E27FC236}">
                <a16:creationId xmlns:a16="http://schemas.microsoft.com/office/drawing/2014/main" id="{D95B91A9-14A3-4939-8CCE-336960FC7C83}"/>
              </a:ext>
            </a:extLst>
          </p:cNvPr>
          <p:cNvSpPr>
            <a:spLocks xmlns:a="http://schemas.openxmlformats.org/drawingml/2006/main" noGrp="1"/>
          </p:cNvSpPr>
          <p:nvPr/>
        </p:nvSpPr>
        <p:spPr>
          <a:xfrm xmlns:a="http://schemas.openxmlformats.org/drawingml/2006/main">
            <a:off x="4095750" y="28098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Both managed and autonomous labels must be true. Use a selected namespace without HPAs.</a:t>
            </a:r>
          </a:p>
        </p:txBody>
      </p:sp>
      <p:sp>
        <p:nvSpPr>
          <p:cNvPr id="6" name="row-label-2">
            <a:extLst xmlns:a="http://schemas.openxmlformats.org/drawingml/2006/main">
              <a:ext uri="{FF2B5EF4-FFF2-40B4-BE49-F238E27FC236}">
                <a16:creationId xmlns:a16="http://schemas.microsoft.com/office/drawing/2014/main" id="{8F3C32CE-3FF9-4C5C-AC2F-2D9FD664861C}"/>
              </a:ext>
            </a:extLst>
          </p:cNvPr>
          <p:cNvSpPr>
            <a:spLocks xmlns:a="http://schemas.openxmlformats.org/drawingml/2006/main" noGrp="1"/>
          </p:cNvSpPr>
          <p:nvPr/>
        </p:nvSpPr>
        <p:spPr>
          <a:xfrm xmlns:a="http://schemas.openxmlformats.org/drawingml/2006/main">
            <a:off x="628650" y="38766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Fresh measurements</a:t>
            </a:r>
          </a:p>
        </p:txBody>
      </p:sp>
      <p:sp>
        <p:nvSpPr>
          <p:cNvPr id="7" name="row-description-2">
            <a:extLst xmlns:a="http://schemas.openxmlformats.org/drawingml/2006/main">
              <a:ext uri="{FF2B5EF4-FFF2-40B4-BE49-F238E27FC236}">
                <a16:creationId xmlns:a16="http://schemas.microsoft.com/office/drawing/2014/main" id="{20B8246A-3D0D-4D0D-BE0D-821D9F0D18CB}"/>
              </a:ext>
            </a:extLst>
          </p:cNvPr>
          <p:cNvSpPr>
            <a:spLocks xmlns:a="http://schemas.openxmlformats.org/drawingml/2006/main" noGrp="1"/>
          </p:cNvSpPr>
          <p:nvPr/>
        </p:nvSpPr>
        <p:spPr>
          <a:xfrm xmlns:a="http://schemas.openxmlformats.org/drawingml/2006/main">
            <a:off x="4095750" y="38766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Provide owned-Pod CPU, memory, restarts and resource limits through Prometheus.</a:t>
            </a:r>
          </a:p>
        </p:txBody>
      </p:sp>
      <p:sp>
        <p:nvSpPr>
          <p:cNvPr id="8" name="row-label-3">
            <a:extLst xmlns:a="http://schemas.openxmlformats.org/drawingml/2006/main">
              <a:ext uri="{FF2B5EF4-FFF2-40B4-BE49-F238E27FC236}">
                <a16:creationId xmlns:a16="http://schemas.microsoft.com/office/drawing/2014/main" id="{97CFF126-0EBF-4BE9-81B0-92DA65AB63EB}"/>
              </a:ext>
            </a:extLst>
          </p:cNvPr>
          <p:cNvSpPr>
            <a:spLocks xmlns:a="http://schemas.openxmlformats.org/drawingml/2006/main" noGrp="1"/>
          </p:cNvSpPr>
          <p:nvPr/>
        </p:nvSpPr>
        <p:spPr>
          <a:xfrm xmlns:a="http://schemas.openxmlformats.org/drawingml/2006/main">
            <a:off x="628650" y="49434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Operator activation</a:t>
            </a:r>
          </a:p>
        </p:txBody>
      </p:sp>
      <p:sp>
        <p:nvSpPr>
          <p:cNvPr id="9" name="row-description-3">
            <a:extLst xmlns:a="http://schemas.openxmlformats.org/drawingml/2006/main">
              <a:ext uri="{FF2B5EF4-FFF2-40B4-BE49-F238E27FC236}">
                <a16:creationId xmlns:a16="http://schemas.microsoft.com/office/drawing/2014/main" id="{A2A06CBE-402C-47AA-B7F2-3CEA812981F7}"/>
              </a:ext>
            </a:extLst>
          </p:cNvPr>
          <p:cNvSpPr>
            <a:spLocks xmlns:a="http://schemas.openxmlformats.org/drawingml/2006/main" noGrp="1"/>
          </p:cNvSpPr>
          <p:nvPr/>
        </p:nvSpPr>
        <p:spPr>
          <a:xfrm xmlns:a="http://schemas.openxmlformats.org/drawingml/2006/main">
            <a:off x="4095750" y="49434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One backend worker and replica. Test dry-run, configure real execution deliberately, then resume.</a:t>
            </a:r>
          </a:p>
        </p:txBody>
      </p:sp>
      <p:sp>
        <p:nvSpPr>
          <p:cNvPr id="10" name="page-number">
            <a:extLst xmlns:a="http://schemas.openxmlformats.org/drawingml/2006/main">
              <a:ext uri="{FF2B5EF4-FFF2-40B4-BE49-F238E27FC236}">
                <a16:creationId xmlns:a16="http://schemas.microsoft.com/office/drawing/2014/main" id="{68D5CEEE-5B4D-4936-B118-18A33D0849AC}"/>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22 / 25</a:t>
            </a:r>
          </a:p>
        </p:txBody>
      </p:sp>
    </p:spTree>
    <p:extLst>
      <p:ext uri="{BB962C8B-B14F-4D97-AF65-F5344CB8AC3E}">
        <p14:creationId xmlns:p14="http://schemas.microsoft.com/office/powerpoint/2010/main" val="1544456028"/>
      </p:ext>
    </p:extLst>
  </p:cSld>
</p:sld>
</file>

<file path=ppt/slides/slide23.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A9DB07E7-889E-4670-A2A7-38740802156E}"/>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Verification and the failure circuit</a:t>
            </a:r>
          </a:p>
        </p:txBody>
      </p:sp>
      <p:sp>
        <p:nvSpPr>
          <p:cNvPr id="2" name="column-label-0">
            <a:extLst xmlns:a="http://schemas.openxmlformats.org/drawingml/2006/main">
              <a:ext uri="{FF2B5EF4-FFF2-40B4-BE49-F238E27FC236}">
                <a16:creationId xmlns:a16="http://schemas.microsoft.com/office/drawing/2014/main" id="{709D8FD7-CCC4-4F79-95BD-4861FF1C2AB6}"/>
              </a:ext>
            </a:extLst>
          </p:cNvPr>
          <p:cNvSpPr>
            <a:spLocks xmlns:a="http://schemas.openxmlformats.org/drawingml/2006/main" noGrp="1"/>
          </p:cNvSpPr>
          <p:nvPr/>
        </p:nvSpPr>
        <p:spPr>
          <a:xfrm xmlns:a="http://schemas.openxmlformats.org/drawingml/2006/main">
            <a:off x="628650"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A recorded success</a:t>
            </a:r>
          </a:p>
        </p:txBody>
      </p:sp>
      <p:sp>
        <p:nvSpPr>
          <p:cNvPr id="3" name="column-body-0">
            <a:extLst xmlns:a="http://schemas.openxmlformats.org/drawingml/2006/main">
              <a:ext uri="{FF2B5EF4-FFF2-40B4-BE49-F238E27FC236}">
                <a16:creationId xmlns:a16="http://schemas.microsoft.com/office/drawing/2014/main" id="{CF4EAA3D-F4C2-40E3-950D-BBAFF3C38D84}"/>
              </a:ext>
            </a:extLst>
          </p:cNvPr>
          <p:cNvSpPr>
            <a:spLocks xmlns:a="http://schemas.openxmlformats.org/drawingml/2006/main" noGrp="1"/>
          </p:cNvSpPr>
          <p:nvPr/>
        </p:nvSpPr>
        <p:spPr>
          <a:xfrm xmlns:a="http://schemas.openxmlformats.org/drawingml/2006/main">
            <a:off x="628650"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First check rollout availability.</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Then require two distinct healthy source observations after execution.</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Resolve the related incident only after verification.</a:t>
            </a:r>
          </a:p>
        </p:txBody>
      </p:sp>
      <p:sp>
        <p:nvSpPr>
          <p:cNvPr id="4" name="column-label-1">
            <a:extLst xmlns:a="http://schemas.openxmlformats.org/drawingml/2006/main">
              <a:ext uri="{FF2B5EF4-FFF2-40B4-BE49-F238E27FC236}">
                <a16:creationId xmlns:a16="http://schemas.microsoft.com/office/drawing/2014/main" id="{F341BD8F-C690-4527-B7FD-5794FAECFB1F}"/>
              </a:ext>
            </a:extLst>
          </p:cNvPr>
          <p:cNvSpPr>
            <a:spLocks xmlns:a="http://schemas.openxmlformats.org/drawingml/2006/main" noGrp="1"/>
          </p:cNvSpPr>
          <p:nvPr/>
        </p:nvSpPr>
        <p:spPr>
          <a:xfrm xmlns:a="http://schemas.openxmlformats.org/drawingml/2006/main">
            <a:off x="6505575" y="178117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F2F2F2"/>
                </a:solidFill>
                <a:latin typeface="Arial"/>
                <a:ea typeface="Arial"/>
                <a:cs typeface="Arial"/>
              </a:defRPr>
            </a:defPPr>
            <a:lvl1pPr algn="l">
              <a:defRPr sz="2325" b="0">
                <a:solidFill>
                  <a:srgbClr val="F2F2F2"/>
                </a:solidFill>
                <a:latin typeface="Arial"/>
                <a:ea typeface="Arial"/>
                <a:cs typeface="Arial"/>
              </a:defRPr>
            </a:lvl1pPr>
            <a:lvl2pPr algn="l">
              <a:defRPr sz="2325" b="0">
                <a:solidFill>
                  <a:srgbClr val="F2F2F2"/>
                </a:solidFill>
                <a:latin typeface="Arial"/>
                <a:ea typeface="Arial"/>
                <a:cs typeface="Arial"/>
              </a:defRPr>
            </a:lvl2pPr>
            <a:lvl3pPr algn="l">
              <a:defRPr sz="2325" b="0">
                <a:solidFill>
                  <a:srgbClr val="F2F2F2"/>
                </a:solidFill>
                <a:latin typeface="Arial"/>
                <a:ea typeface="Arial"/>
                <a:cs typeface="Arial"/>
              </a:defRPr>
            </a:lvl3pPr>
            <a:lvl4pPr algn="l">
              <a:defRPr sz="2325" b="0">
                <a:solidFill>
                  <a:srgbClr val="F2F2F2"/>
                </a:solidFill>
                <a:latin typeface="Arial"/>
                <a:ea typeface="Arial"/>
                <a:cs typeface="Arial"/>
              </a:defRPr>
            </a:lvl4pPr>
            <a:lvl5pPr algn="l">
              <a:defRPr sz="2325" b="0">
                <a:solidFill>
                  <a:srgbClr val="F2F2F2"/>
                </a:solidFill>
                <a:latin typeface="Arial"/>
                <a:ea typeface="Arial"/>
                <a:cs typeface="Arial"/>
              </a:defRPr>
            </a:lvl5pPr>
            <a:lvl6pPr algn="l">
              <a:defRPr sz="2325" b="0">
                <a:solidFill>
                  <a:srgbClr val="F2F2F2"/>
                </a:solidFill>
                <a:latin typeface="Arial"/>
                <a:ea typeface="Arial"/>
                <a:cs typeface="Arial"/>
              </a:defRPr>
            </a:lvl6pPr>
            <a:lvl7pPr algn="l">
              <a:defRPr sz="2325" b="0">
                <a:solidFill>
                  <a:srgbClr val="F2F2F2"/>
                </a:solidFill>
                <a:latin typeface="Arial"/>
                <a:ea typeface="Arial"/>
                <a:cs typeface="Arial"/>
              </a:defRPr>
            </a:lvl7pPr>
            <a:lvl8pPr algn="l">
              <a:defRPr sz="2325" b="0">
                <a:solidFill>
                  <a:srgbClr val="F2F2F2"/>
                </a:solidFill>
                <a:latin typeface="Arial"/>
                <a:ea typeface="Arial"/>
                <a:cs typeface="Arial"/>
              </a:defRPr>
            </a:lvl8pPr>
            <a:lvl9pPr algn="l">
              <a:defRPr sz="2325" b="0">
                <a:solidFill>
                  <a:srgbClr val="F2F2F2"/>
                </a:solidFill>
                <a:latin typeface="Arial"/>
                <a:ea typeface="Arial"/>
                <a:cs typeface="Arial"/>
              </a:defRPr>
            </a:lvl9pPr>
          </a:lstStyle>
          <a:p xmlns:a="http://schemas.openxmlformats.org/drawingml/2006/main">
            <a:pPr algn="l">
              <a:lnSpc>
                <a:spcPct val="118000"/>
              </a:lnSpc>
              <a:buNone/>
              <a:defRPr sz="2325" b="0">
                <a:solidFill>
                  <a:srgbClr val="F2F2F2"/>
                </a:solidFill>
                <a:latin typeface="Arial"/>
                <a:ea typeface="Arial"/>
                <a:cs typeface="Arial"/>
              </a:defRPr>
            </a:pPr>
            <a:r>
              <a:rPr sz="2325" b="0">
                <a:solidFill>
                  <a:srgbClr val="F2F2F2"/>
                </a:solidFill>
                <a:latin typeface="Arial"/>
                <a:ea typeface="Arial"/>
                <a:cs typeface="Arial"/>
              </a:rPr>
              <a:t>A recorded failure</a:t>
            </a:r>
          </a:p>
        </p:txBody>
      </p:sp>
      <p:sp>
        <p:nvSpPr>
          <p:cNvPr id="5" name="column-body-1">
            <a:extLst xmlns:a="http://schemas.openxmlformats.org/drawingml/2006/main">
              <a:ext uri="{FF2B5EF4-FFF2-40B4-BE49-F238E27FC236}">
                <a16:creationId xmlns:a16="http://schemas.microsoft.com/office/drawing/2014/main" id="{C0908925-92C2-4C16-9FEE-265FCB17C9F7}"/>
              </a:ext>
            </a:extLst>
          </p:cNvPr>
          <p:cNvSpPr>
            <a:spLocks xmlns:a="http://schemas.openxmlformats.org/drawingml/2006/main" noGrp="1"/>
          </p:cNvSpPr>
          <p:nvPr/>
        </p:nvSpPr>
        <p:spPr>
          <a:xfrm xmlns:a="http://schemas.openxmlformats.org/drawingml/2006/main">
            <a:off x="6505575" y="2809875"/>
            <a:ext cx="4905375" cy="3095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Missing evidence, an unverified rollout or unhealthy telemetry cannot become success.</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Pause healing and keep the incident open. A retained target latch prevents repeated attempts.</a:t>
            </a:r>
          </a:p>
        </p:txBody>
      </p:sp>
      <p:sp>
        <p:nvSpPr>
          <p:cNvPr id="6" name="page-number">
            <a:extLst xmlns:a="http://schemas.openxmlformats.org/drawingml/2006/main">
              <a:ext uri="{FF2B5EF4-FFF2-40B4-BE49-F238E27FC236}">
                <a16:creationId xmlns:a16="http://schemas.microsoft.com/office/drawing/2014/main" id="{030FDC28-D54B-4A04-AB89-C2AFA0BA396D}"/>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23 / 25</a:t>
            </a:r>
          </a:p>
        </p:txBody>
      </p:sp>
    </p:spTree>
    <p:extLst>
      <p:ext uri="{BB962C8B-B14F-4D97-AF65-F5344CB8AC3E}">
        <p14:creationId xmlns:p14="http://schemas.microsoft.com/office/powerpoint/2010/main" val="196450883"/>
      </p:ext>
    </p:extLst>
  </p:cSld>
</p:sld>
</file>

<file path=ppt/slides/slide24.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0508D9B4-AE67-4295-BD0E-07427F15DC1C}"/>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Evidence and remaining validation</a:t>
            </a:r>
          </a:p>
        </p:txBody>
      </p:sp>
      <p:sp>
        <p:nvSpPr>
          <p:cNvPr id="2" name="row-label-0">
            <a:extLst xmlns:a="http://schemas.openxmlformats.org/drawingml/2006/main">
              <a:ext uri="{FF2B5EF4-FFF2-40B4-BE49-F238E27FC236}">
                <a16:creationId xmlns:a16="http://schemas.microsoft.com/office/drawing/2014/main" id="{669894C3-543E-4CBB-B2FE-B0A52ACB43C3}"/>
              </a:ext>
            </a:extLst>
          </p:cNvPr>
          <p:cNvSpPr>
            <a:spLocks xmlns:a="http://schemas.openxmlformats.org/drawingml/2006/main" noGrp="1"/>
          </p:cNvSpPr>
          <p:nvPr/>
        </p:nvSpPr>
        <p:spPr>
          <a:xfrm xmlns:a="http://schemas.openxmlformats.org/drawingml/2006/main">
            <a:off x="628650" y="174307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Backend contracts</a:t>
            </a:r>
          </a:p>
        </p:txBody>
      </p:sp>
      <p:sp>
        <p:nvSpPr>
          <p:cNvPr id="3" name="row-description-0">
            <a:extLst xmlns:a="http://schemas.openxmlformats.org/drawingml/2006/main">
              <a:ext uri="{FF2B5EF4-FFF2-40B4-BE49-F238E27FC236}">
                <a16:creationId xmlns:a16="http://schemas.microsoft.com/office/drawing/2014/main" id="{F9E7CDCA-3A34-454C-A86D-689947E4DDE2}"/>
              </a:ext>
            </a:extLst>
          </p:cNvPr>
          <p:cNvSpPr>
            <a:spLocks xmlns:a="http://schemas.openxmlformats.org/drawingml/2006/main" noGrp="1"/>
          </p:cNvSpPr>
          <p:nvPr/>
        </p:nvSpPr>
        <p:spPr>
          <a:xfrm xmlns:a="http://schemas.openxmlformats.org/drawingml/2006/main">
            <a:off x="4095750" y="174307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38 tests passed, including controller confirmation, authorization and failure outcomes.</a:t>
            </a:r>
          </a:p>
        </p:txBody>
      </p:sp>
      <p:sp>
        <p:nvSpPr>
          <p:cNvPr id="4" name="row-label-1">
            <a:extLst xmlns:a="http://schemas.openxmlformats.org/drawingml/2006/main">
              <a:ext uri="{FF2B5EF4-FFF2-40B4-BE49-F238E27FC236}">
                <a16:creationId xmlns:a16="http://schemas.microsoft.com/office/drawing/2014/main" id="{CCE52219-A95B-496B-B127-22FBB1042532}"/>
              </a:ext>
            </a:extLst>
          </p:cNvPr>
          <p:cNvSpPr>
            <a:spLocks xmlns:a="http://schemas.openxmlformats.org/drawingml/2006/main" noGrp="1"/>
          </p:cNvSpPr>
          <p:nvPr/>
        </p:nvSpPr>
        <p:spPr>
          <a:xfrm xmlns:a="http://schemas.openxmlformats.org/drawingml/2006/main">
            <a:off x="628650" y="30480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Public workflow</a:t>
            </a:r>
          </a:p>
        </p:txBody>
      </p:sp>
      <p:sp>
        <p:nvSpPr>
          <p:cNvPr id="5" name="row-description-1">
            <a:extLst xmlns:a="http://schemas.openxmlformats.org/drawingml/2006/main">
              <a:ext uri="{FF2B5EF4-FFF2-40B4-BE49-F238E27FC236}">
                <a16:creationId xmlns:a16="http://schemas.microsoft.com/office/drawing/2014/main" id="{3A8C1DDB-01B0-4088-957D-F36768271096}"/>
              </a:ext>
            </a:extLst>
          </p:cNvPr>
          <p:cNvSpPr>
            <a:spLocks xmlns:a="http://schemas.openxmlformats.org/drawingml/2006/main" noGrp="1"/>
          </p:cNvSpPr>
          <p:nvPr/>
        </p:nvSpPr>
        <p:spPr>
          <a:xfrm xmlns:a="http://schemas.openxmlformats.org/drawingml/2006/main">
            <a:off x="4095750" y="3048000"/>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12 frontend tests and actual Edge checks cover automatic simulated recovery, pause and mobile layout.</a:t>
            </a:r>
          </a:p>
        </p:txBody>
      </p:sp>
      <p:sp>
        <p:nvSpPr>
          <p:cNvPr id="6" name="row-label-2">
            <a:extLst xmlns:a="http://schemas.openxmlformats.org/drawingml/2006/main">
              <a:ext uri="{FF2B5EF4-FFF2-40B4-BE49-F238E27FC236}">
                <a16:creationId xmlns:a16="http://schemas.microsoft.com/office/drawing/2014/main" id="{C3762914-C6FD-4B8F-BD4D-E859386B21D4}"/>
              </a:ext>
            </a:extLst>
          </p:cNvPr>
          <p:cNvSpPr>
            <a:spLocks xmlns:a="http://schemas.openxmlformats.org/drawingml/2006/main" noGrp="1"/>
          </p:cNvSpPr>
          <p:nvPr/>
        </p:nvSpPr>
        <p:spPr>
          <a:xfrm xmlns:a="http://schemas.openxmlformats.org/drawingml/2006/main">
            <a:off x="628650" y="4352925"/>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F2F2F2"/>
                </a:solidFill>
                <a:latin typeface="Arial"/>
                <a:ea typeface="Arial"/>
                <a:cs typeface="Arial"/>
              </a:defRPr>
            </a:defPPr>
            <a:lvl1pPr algn="l">
              <a:defRPr sz="1950" b="0">
                <a:solidFill>
                  <a:srgbClr val="F2F2F2"/>
                </a:solidFill>
                <a:latin typeface="Arial"/>
                <a:ea typeface="Arial"/>
                <a:cs typeface="Arial"/>
              </a:defRPr>
            </a:lvl1pPr>
            <a:lvl2pPr algn="l">
              <a:defRPr sz="1950" b="0">
                <a:solidFill>
                  <a:srgbClr val="F2F2F2"/>
                </a:solidFill>
                <a:latin typeface="Arial"/>
                <a:ea typeface="Arial"/>
                <a:cs typeface="Arial"/>
              </a:defRPr>
            </a:lvl2pPr>
            <a:lvl3pPr algn="l">
              <a:defRPr sz="1950" b="0">
                <a:solidFill>
                  <a:srgbClr val="F2F2F2"/>
                </a:solidFill>
                <a:latin typeface="Arial"/>
                <a:ea typeface="Arial"/>
                <a:cs typeface="Arial"/>
              </a:defRPr>
            </a:lvl3pPr>
            <a:lvl4pPr algn="l">
              <a:defRPr sz="1950" b="0">
                <a:solidFill>
                  <a:srgbClr val="F2F2F2"/>
                </a:solidFill>
                <a:latin typeface="Arial"/>
                <a:ea typeface="Arial"/>
                <a:cs typeface="Arial"/>
              </a:defRPr>
            </a:lvl4pPr>
            <a:lvl5pPr algn="l">
              <a:defRPr sz="1950" b="0">
                <a:solidFill>
                  <a:srgbClr val="F2F2F2"/>
                </a:solidFill>
                <a:latin typeface="Arial"/>
                <a:ea typeface="Arial"/>
                <a:cs typeface="Arial"/>
              </a:defRPr>
            </a:lvl5pPr>
            <a:lvl6pPr algn="l">
              <a:defRPr sz="1950" b="0">
                <a:solidFill>
                  <a:srgbClr val="F2F2F2"/>
                </a:solidFill>
                <a:latin typeface="Arial"/>
                <a:ea typeface="Arial"/>
                <a:cs typeface="Arial"/>
              </a:defRPr>
            </a:lvl6pPr>
            <a:lvl7pPr algn="l">
              <a:defRPr sz="1950" b="0">
                <a:solidFill>
                  <a:srgbClr val="F2F2F2"/>
                </a:solidFill>
                <a:latin typeface="Arial"/>
                <a:ea typeface="Arial"/>
                <a:cs typeface="Arial"/>
              </a:defRPr>
            </a:lvl7pPr>
            <a:lvl8pPr algn="l">
              <a:defRPr sz="1950" b="0">
                <a:solidFill>
                  <a:srgbClr val="F2F2F2"/>
                </a:solidFill>
                <a:latin typeface="Arial"/>
                <a:ea typeface="Arial"/>
                <a:cs typeface="Arial"/>
              </a:defRPr>
            </a:lvl8pPr>
            <a:lvl9pPr algn="l">
              <a:defRPr sz="1950" b="0">
                <a:solidFill>
                  <a:srgbClr val="F2F2F2"/>
                </a:solidFill>
                <a:latin typeface="Arial"/>
                <a:ea typeface="Arial"/>
                <a:cs typeface="Arial"/>
              </a:defRPr>
            </a:lvl9pPr>
          </a:lstStyle>
          <a:p xmlns:a="http://schemas.openxmlformats.org/drawingml/2006/main">
            <a:pPr algn="l">
              <a:lnSpc>
                <a:spcPct val="118000"/>
              </a:lnSpc>
              <a:buNone/>
              <a:defRPr sz="1950" b="0">
                <a:solidFill>
                  <a:srgbClr val="F2F2F2"/>
                </a:solidFill>
                <a:latin typeface="Arial"/>
                <a:ea typeface="Arial"/>
                <a:cs typeface="Arial"/>
              </a:defRPr>
            </a:pPr>
            <a:r>
              <a:rPr sz="1950" b="0">
                <a:solidFill>
                  <a:srgbClr val="F2F2F2"/>
                </a:solidFill>
                <a:latin typeface="Arial"/>
                <a:ea typeface="Arial"/>
                <a:cs typeface="Arial"/>
              </a:rPr>
              <a:t>Real cluster acceptance</a:t>
            </a:r>
          </a:p>
        </p:txBody>
      </p:sp>
      <p:sp>
        <p:nvSpPr>
          <p:cNvPr id="7" name="row-description-2">
            <a:extLst xmlns:a="http://schemas.openxmlformats.org/drawingml/2006/main">
              <a:ext uri="{FF2B5EF4-FFF2-40B4-BE49-F238E27FC236}">
                <a16:creationId xmlns:a16="http://schemas.microsoft.com/office/drawing/2014/main" id="{BD122591-8844-4F68-95AB-42D8FE9AF643}"/>
              </a:ext>
            </a:extLst>
          </p:cNvPr>
          <p:cNvSpPr>
            <a:spLocks xmlns:a="http://schemas.openxmlformats.org/drawingml/2006/main" noGrp="1"/>
          </p:cNvSpPr>
          <p:nvPr/>
        </p:nvSpPr>
        <p:spPr>
          <a:xfrm xmlns:a="http://schemas.openxmlformats.org/drawingml/2006/main">
            <a:off x="4095750" y="4352925"/>
            <a:ext cx="7239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B9BDC2"/>
                </a:solidFill>
                <a:latin typeface="Arial"/>
                <a:ea typeface="Arial"/>
                <a:cs typeface="Arial"/>
              </a:defRPr>
            </a:defPPr>
            <a:lvl1pPr algn="l">
              <a:defRPr sz="1875" b="0">
                <a:solidFill>
                  <a:srgbClr val="B9BDC2"/>
                </a:solidFill>
                <a:latin typeface="Arial"/>
                <a:ea typeface="Arial"/>
                <a:cs typeface="Arial"/>
              </a:defRPr>
            </a:lvl1pPr>
            <a:lvl2pPr algn="l">
              <a:defRPr sz="1875" b="0">
                <a:solidFill>
                  <a:srgbClr val="B9BDC2"/>
                </a:solidFill>
                <a:latin typeface="Arial"/>
                <a:ea typeface="Arial"/>
                <a:cs typeface="Arial"/>
              </a:defRPr>
            </a:lvl2pPr>
            <a:lvl3pPr algn="l">
              <a:defRPr sz="1875" b="0">
                <a:solidFill>
                  <a:srgbClr val="B9BDC2"/>
                </a:solidFill>
                <a:latin typeface="Arial"/>
                <a:ea typeface="Arial"/>
                <a:cs typeface="Arial"/>
              </a:defRPr>
            </a:lvl3pPr>
            <a:lvl4pPr algn="l">
              <a:defRPr sz="1875" b="0">
                <a:solidFill>
                  <a:srgbClr val="B9BDC2"/>
                </a:solidFill>
                <a:latin typeface="Arial"/>
                <a:ea typeface="Arial"/>
                <a:cs typeface="Arial"/>
              </a:defRPr>
            </a:lvl4pPr>
            <a:lvl5pPr algn="l">
              <a:defRPr sz="1875" b="0">
                <a:solidFill>
                  <a:srgbClr val="B9BDC2"/>
                </a:solidFill>
                <a:latin typeface="Arial"/>
                <a:ea typeface="Arial"/>
                <a:cs typeface="Arial"/>
              </a:defRPr>
            </a:lvl5pPr>
            <a:lvl6pPr algn="l">
              <a:defRPr sz="1875" b="0">
                <a:solidFill>
                  <a:srgbClr val="B9BDC2"/>
                </a:solidFill>
                <a:latin typeface="Arial"/>
                <a:ea typeface="Arial"/>
                <a:cs typeface="Arial"/>
              </a:defRPr>
            </a:lvl6pPr>
            <a:lvl7pPr algn="l">
              <a:defRPr sz="1875" b="0">
                <a:solidFill>
                  <a:srgbClr val="B9BDC2"/>
                </a:solidFill>
                <a:latin typeface="Arial"/>
                <a:ea typeface="Arial"/>
                <a:cs typeface="Arial"/>
              </a:defRPr>
            </a:lvl7pPr>
            <a:lvl8pPr algn="l">
              <a:defRPr sz="1875" b="0">
                <a:solidFill>
                  <a:srgbClr val="B9BDC2"/>
                </a:solidFill>
                <a:latin typeface="Arial"/>
                <a:ea typeface="Arial"/>
                <a:cs typeface="Arial"/>
              </a:defRPr>
            </a:lvl8pPr>
            <a:lvl9pPr algn="l">
              <a:defRPr sz="1875" b="0">
                <a:solidFill>
                  <a:srgbClr val="B9BDC2"/>
                </a:solidFill>
                <a:latin typeface="Arial"/>
                <a:ea typeface="Arial"/>
                <a:cs typeface="Arial"/>
              </a:defRPr>
            </a:lvl9pPr>
          </a:lstStyle>
          <a:p xmlns:a="http://schemas.openxmlformats.org/drawingml/2006/main">
            <a:pPr algn="l">
              <a:lnSpc>
                <a:spcPct val="118000"/>
              </a:lnSpc>
              <a:buNone/>
              <a:defRPr sz="1875" b="0">
                <a:solidFill>
                  <a:srgbClr val="B9BDC2"/>
                </a:solidFill>
                <a:latin typeface="Arial"/>
                <a:ea typeface="Arial"/>
                <a:cs typeface="Arial"/>
              </a:defRPr>
            </a:pPr>
            <a:r>
              <a:rPr sz="1875" b="0">
                <a:solidFill>
                  <a:srgbClr val="B9BDC2"/>
                </a:solidFill>
                <a:latin typeface="Arial"/>
                <a:ea typeface="Arial"/>
                <a:cs typeface="Arial"/>
              </a:rPr>
              <a:t>No Kubernetes context or Docker engine is configured here. Run the documented disposable-namespace checks.</a:t>
            </a:r>
          </a:p>
        </p:txBody>
      </p:sp>
      <p:sp>
        <p:nvSpPr>
          <p:cNvPr id="8" name="page-number">
            <a:extLst xmlns:a="http://schemas.openxmlformats.org/drawingml/2006/main">
              <a:ext uri="{FF2B5EF4-FFF2-40B4-BE49-F238E27FC236}">
                <a16:creationId xmlns:a16="http://schemas.microsoft.com/office/drawing/2014/main" id="{1AFC0577-7BBA-4A87-A105-891DB4396C24}"/>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24 / 25</a:t>
            </a:r>
          </a:p>
        </p:txBody>
      </p:sp>
    </p:spTree>
    <p:extLst>
      <p:ext uri="{BB962C8B-B14F-4D97-AF65-F5344CB8AC3E}">
        <p14:creationId xmlns:p14="http://schemas.microsoft.com/office/powerpoint/2010/main" val="1121894698"/>
      </p:ext>
    </p:extLst>
  </p:cSld>
</p:sld>
</file>

<file path=ppt/slides/slide2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B5D671B-3170-4BE4-9CC5-0B5A0875A097}"/>
              </a:ext>
            </a:extLst>
          </p:cNvPr>
          <p:cNvSpPr>
            <a:spLocks xmlns:a="http://schemas.openxmlformats.org/drawingml/2006/main" noGrp="1"/>
          </p:cNvSpPr>
          <p:nvPr/>
        </p:nvSpPr>
        <p:spPr>
          <a:xfrm xmlns:a="http://schemas.openxmlformats.org/drawingml/2006/main">
            <a:off x="609600" y="466725"/>
            <a:ext cx="1085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2F2F2"/>
                </a:solidFill>
                <a:latin typeface="Arial"/>
                <a:ea typeface="Arial"/>
                <a:cs typeface="Arial"/>
              </a:defRPr>
            </a:defPPr>
            <a:lvl1pPr algn="l">
              <a:defRPr sz="3300" b="0">
                <a:solidFill>
                  <a:srgbClr val="F2F2F2"/>
                </a:solidFill>
                <a:latin typeface="Arial"/>
                <a:ea typeface="Arial"/>
                <a:cs typeface="Arial"/>
              </a:defRPr>
            </a:lvl1pPr>
            <a:lvl2pPr algn="l">
              <a:defRPr sz="3300" b="0">
                <a:solidFill>
                  <a:srgbClr val="F2F2F2"/>
                </a:solidFill>
                <a:latin typeface="Arial"/>
                <a:ea typeface="Arial"/>
                <a:cs typeface="Arial"/>
              </a:defRPr>
            </a:lvl2pPr>
            <a:lvl3pPr algn="l">
              <a:defRPr sz="3300" b="0">
                <a:solidFill>
                  <a:srgbClr val="F2F2F2"/>
                </a:solidFill>
                <a:latin typeface="Arial"/>
                <a:ea typeface="Arial"/>
                <a:cs typeface="Arial"/>
              </a:defRPr>
            </a:lvl3pPr>
            <a:lvl4pPr algn="l">
              <a:defRPr sz="3300" b="0">
                <a:solidFill>
                  <a:srgbClr val="F2F2F2"/>
                </a:solidFill>
                <a:latin typeface="Arial"/>
                <a:ea typeface="Arial"/>
                <a:cs typeface="Arial"/>
              </a:defRPr>
            </a:lvl4pPr>
            <a:lvl5pPr algn="l">
              <a:defRPr sz="3300" b="0">
                <a:solidFill>
                  <a:srgbClr val="F2F2F2"/>
                </a:solidFill>
                <a:latin typeface="Arial"/>
                <a:ea typeface="Arial"/>
                <a:cs typeface="Arial"/>
              </a:defRPr>
            </a:lvl5pPr>
            <a:lvl6pPr algn="l">
              <a:defRPr sz="3300" b="0">
                <a:solidFill>
                  <a:srgbClr val="F2F2F2"/>
                </a:solidFill>
                <a:latin typeface="Arial"/>
                <a:ea typeface="Arial"/>
                <a:cs typeface="Arial"/>
              </a:defRPr>
            </a:lvl6pPr>
            <a:lvl7pPr algn="l">
              <a:defRPr sz="3300" b="0">
                <a:solidFill>
                  <a:srgbClr val="F2F2F2"/>
                </a:solidFill>
                <a:latin typeface="Arial"/>
                <a:ea typeface="Arial"/>
                <a:cs typeface="Arial"/>
              </a:defRPr>
            </a:lvl7pPr>
            <a:lvl8pPr algn="l">
              <a:defRPr sz="3300" b="0">
                <a:solidFill>
                  <a:srgbClr val="F2F2F2"/>
                </a:solidFill>
                <a:latin typeface="Arial"/>
                <a:ea typeface="Arial"/>
                <a:cs typeface="Arial"/>
              </a:defRPr>
            </a:lvl8pPr>
            <a:lvl9pPr algn="l">
              <a:defRPr sz="3300" b="0">
                <a:solidFill>
                  <a:srgbClr val="F2F2F2"/>
                </a:solidFill>
                <a:latin typeface="Arial"/>
                <a:ea typeface="Arial"/>
                <a:cs typeface="Arial"/>
              </a:defRPr>
            </a:lvl9pPr>
          </a:lstStyle>
          <a:p xmlns:a="http://schemas.openxmlformats.org/drawingml/2006/main">
            <a:pPr algn="l">
              <a:lnSpc>
                <a:spcPct val="118000"/>
              </a:lnSpc>
              <a:buNone/>
              <a:defRPr sz="3300" b="0">
                <a:solidFill>
                  <a:srgbClr val="F2F2F2"/>
                </a:solidFill>
                <a:latin typeface="Arial"/>
                <a:ea typeface="Arial"/>
                <a:cs typeface="Arial"/>
              </a:defRPr>
            </a:pPr>
            <a:r>
              <a:rPr sz="3300" b="0">
                <a:solidFill>
                  <a:srgbClr val="F2F2F2"/>
                </a:solidFill>
                <a:latin typeface="Arial"/>
                <a:ea typeface="Arial"/>
                <a:cs typeface="Arial"/>
              </a:rPr>
              <a:t>Further reading and project access</a:t>
            </a:r>
          </a:p>
        </p:txBody>
      </p:sp>
      <p:sp>
        <p:nvSpPr>
          <p:cNvPr id="2" name="closing-statement">
            <a:extLst xmlns:a="http://schemas.openxmlformats.org/drawingml/2006/main">
              <a:ext uri="{FF2B5EF4-FFF2-40B4-BE49-F238E27FC236}">
                <a16:creationId xmlns:a16="http://schemas.microsoft.com/office/drawing/2014/main" id="{1992E0D6-0DE9-485C-B27D-9EBE5B8CC6EE}"/>
              </a:ext>
            </a:extLst>
          </p:cNvPr>
          <p:cNvSpPr>
            <a:spLocks xmlns:a="http://schemas.openxmlformats.org/drawingml/2006/main" noGrp="1"/>
          </p:cNvSpPr>
          <p:nvPr/>
        </p:nvSpPr>
        <p:spPr>
          <a:xfrm xmlns:a="http://schemas.openxmlformats.org/drawingml/2006/main">
            <a:off x="628650" y="1685925"/>
            <a:ext cx="10477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F2F2F2"/>
                </a:solidFill>
                <a:latin typeface="Arial"/>
                <a:ea typeface="Arial"/>
                <a:cs typeface="Arial"/>
              </a:defRPr>
            </a:defPPr>
            <a:lvl1pPr algn="l">
              <a:defRPr sz="2775" b="0">
                <a:solidFill>
                  <a:srgbClr val="F2F2F2"/>
                </a:solidFill>
                <a:latin typeface="Arial"/>
                <a:ea typeface="Arial"/>
                <a:cs typeface="Arial"/>
              </a:defRPr>
            </a:lvl1pPr>
            <a:lvl2pPr algn="l">
              <a:defRPr sz="2775" b="0">
                <a:solidFill>
                  <a:srgbClr val="F2F2F2"/>
                </a:solidFill>
                <a:latin typeface="Arial"/>
                <a:ea typeface="Arial"/>
                <a:cs typeface="Arial"/>
              </a:defRPr>
            </a:lvl2pPr>
            <a:lvl3pPr algn="l">
              <a:defRPr sz="2775" b="0">
                <a:solidFill>
                  <a:srgbClr val="F2F2F2"/>
                </a:solidFill>
                <a:latin typeface="Arial"/>
                <a:ea typeface="Arial"/>
                <a:cs typeface="Arial"/>
              </a:defRPr>
            </a:lvl3pPr>
            <a:lvl4pPr algn="l">
              <a:defRPr sz="2775" b="0">
                <a:solidFill>
                  <a:srgbClr val="F2F2F2"/>
                </a:solidFill>
                <a:latin typeface="Arial"/>
                <a:ea typeface="Arial"/>
                <a:cs typeface="Arial"/>
              </a:defRPr>
            </a:lvl4pPr>
            <a:lvl5pPr algn="l">
              <a:defRPr sz="2775" b="0">
                <a:solidFill>
                  <a:srgbClr val="F2F2F2"/>
                </a:solidFill>
                <a:latin typeface="Arial"/>
                <a:ea typeface="Arial"/>
                <a:cs typeface="Arial"/>
              </a:defRPr>
            </a:lvl5pPr>
            <a:lvl6pPr algn="l">
              <a:defRPr sz="2775" b="0">
                <a:solidFill>
                  <a:srgbClr val="F2F2F2"/>
                </a:solidFill>
                <a:latin typeface="Arial"/>
                <a:ea typeface="Arial"/>
                <a:cs typeface="Arial"/>
              </a:defRPr>
            </a:lvl6pPr>
            <a:lvl7pPr algn="l">
              <a:defRPr sz="2775" b="0">
                <a:solidFill>
                  <a:srgbClr val="F2F2F2"/>
                </a:solidFill>
                <a:latin typeface="Arial"/>
                <a:ea typeface="Arial"/>
                <a:cs typeface="Arial"/>
              </a:defRPr>
            </a:lvl7pPr>
            <a:lvl8pPr algn="l">
              <a:defRPr sz="2775" b="0">
                <a:solidFill>
                  <a:srgbClr val="F2F2F2"/>
                </a:solidFill>
                <a:latin typeface="Arial"/>
                <a:ea typeface="Arial"/>
                <a:cs typeface="Arial"/>
              </a:defRPr>
            </a:lvl8pPr>
            <a:lvl9pPr algn="l">
              <a:defRPr sz="2775" b="0">
                <a:solidFill>
                  <a:srgbClr val="F2F2F2"/>
                </a:solidFill>
                <a:latin typeface="Arial"/>
                <a:ea typeface="Arial"/>
                <a:cs typeface="Arial"/>
              </a:defRPr>
            </a:lvl9pPr>
          </a:lstStyle>
          <a:p xmlns:a="http://schemas.openxmlformats.org/drawingml/2006/main">
            <a:pPr algn="l">
              <a:lnSpc>
                <a:spcPct val="118000"/>
              </a:lnSpc>
              <a:buNone/>
              <a:defRPr sz="2775" b="0">
                <a:solidFill>
                  <a:srgbClr val="F2F2F2"/>
                </a:solidFill>
                <a:latin typeface="Arial"/>
                <a:ea typeface="Arial"/>
                <a:cs typeface="Arial"/>
              </a:defRPr>
            </a:pPr>
            <a:r>
              <a:rPr sz="2775" b="0">
                <a:solidFill>
                  <a:srgbClr val="F2F2F2"/>
                </a:solidFill>
                <a:latin typeface="Arial"/>
                <a:ea typeface="Arial"/>
                <a:cs typeface="Arial"/>
              </a:rPr>
              <a:t>The public demo explains the idea. The repository shows the implementation.</a:t>
            </a:r>
          </a:p>
        </p:txBody>
      </p:sp>
      <p:sp>
        <p:nvSpPr>
          <p:cNvPr id="3" name="project-links">
            <a:extLst xmlns:a="http://schemas.openxmlformats.org/drawingml/2006/main">
              <a:ext uri="{FF2B5EF4-FFF2-40B4-BE49-F238E27FC236}">
                <a16:creationId xmlns:a16="http://schemas.microsoft.com/office/drawing/2014/main" id="{DC0B5D62-34DF-4BFC-83C0-454F182A0745}"/>
              </a:ext>
            </a:extLst>
          </p:cNvPr>
          <p:cNvSpPr>
            <a:spLocks xmlns:a="http://schemas.openxmlformats.org/drawingml/2006/main" noGrp="1"/>
          </p:cNvSpPr>
          <p:nvPr/>
        </p:nvSpPr>
        <p:spPr>
          <a:xfrm xmlns:a="http://schemas.openxmlformats.org/drawingml/2006/main">
            <a:off x="647700" y="3286125"/>
            <a:ext cx="10287000" cy="2714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B9BDC2"/>
                </a:solidFill>
                <a:latin typeface="Arial"/>
                <a:ea typeface="Arial"/>
                <a:cs typeface="Arial"/>
              </a:defRPr>
            </a:defPPr>
            <a:lvl1pPr algn="l">
              <a:defRPr sz="1950" b="0">
                <a:solidFill>
                  <a:srgbClr val="B9BDC2"/>
                </a:solidFill>
                <a:latin typeface="Arial"/>
                <a:ea typeface="Arial"/>
                <a:cs typeface="Arial"/>
              </a:defRPr>
            </a:lvl1pPr>
            <a:lvl2pPr algn="l">
              <a:defRPr sz="1950" b="0">
                <a:solidFill>
                  <a:srgbClr val="B9BDC2"/>
                </a:solidFill>
                <a:latin typeface="Arial"/>
                <a:ea typeface="Arial"/>
                <a:cs typeface="Arial"/>
              </a:defRPr>
            </a:lvl2pPr>
            <a:lvl3pPr algn="l">
              <a:defRPr sz="1950" b="0">
                <a:solidFill>
                  <a:srgbClr val="B9BDC2"/>
                </a:solidFill>
                <a:latin typeface="Arial"/>
                <a:ea typeface="Arial"/>
                <a:cs typeface="Arial"/>
              </a:defRPr>
            </a:lvl3pPr>
            <a:lvl4pPr algn="l">
              <a:defRPr sz="1950" b="0">
                <a:solidFill>
                  <a:srgbClr val="B9BDC2"/>
                </a:solidFill>
                <a:latin typeface="Arial"/>
                <a:ea typeface="Arial"/>
                <a:cs typeface="Arial"/>
              </a:defRPr>
            </a:lvl4pPr>
            <a:lvl5pPr algn="l">
              <a:defRPr sz="1950" b="0">
                <a:solidFill>
                  <a:srgbClr val="B9BDC2"/>
                </a:solidFill>
                <a:latin typeface="Arial"/>
                <a:ea typeface="Arial"/>
                <a:cs typeface="Arial"/>
              </a:defRPr>
            </a:lvl5pPr>
            <a:lvl6pPr algn="l">
              <a:defRPr sz="1950" b="0">
                <a:solidFill>
                  <a:srgbClr val="B9BDC2"/>
                </a:solidFill>
                <a:latin typeface="Arial"/>
                <a:ea typeface="Arial"/>
                <a:cs typeface="Arial"/>
              </a:defRPr>
            </a:lvl6pPr>
            <a:lvl7pPr algn="l">
              <a:defRPr sz="1950" b="0">
                <a:solidFill>
                  <a:srgbClr val="B9BDC2"/>
                </a:solidFill>
                <a:latin typeface="Arial"/>
                <a:ea typeface="Arial"/>
                <a:cs typeface="Arial"/>
              </a:defRPr>
            </a:lvl7pPr>
            <a:lvl8pPr algn="l">
              <a:defRPr sz="1950" b="0">
                <a:solidFill>
                  <a:srgbClr val="B9BDC2"/>
                </a:solidFill>
                <a:latin typeface="Arial"/>
                <a:ea typeface="Arial"/>
                <a:cs typeface="Arial"/>
              </a:defRPr>
            </a:lvl8pPr>
            <a:lvl9pPr algn="l">
              <a:defRPr sz="1950" b="0">
                <a:solidFill>
                  <a:srgbClr val="B9BDC2"/>
                </a:solidFill>
                <a:latin typeface="Arial"/>
                <a:ea typeface="Arial"/>
                <a:cs typeface="Arial"/>
              </a:defRPr>
            </a:lvl9pPr>
          </a:lstStyle>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Live demo</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hlinkClick xmlns:r="http://schemas.openxmlformats.org/officeDocument/2006/relationships" r:id="Rcd72f59544f740ec"/>
              </a:rPr>
              <a:t>autohealops.vercel.app</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GitHub</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hlinkClick xmlns:r="http://schemas.openxmlformats.org/officeDocument/2006/relationships" r:id="Rff1b0aa7b1da4225"/>
              </a:rPr>
              <a:t>manikantbindass / AutoHealOps</a:t>
            </a:r>
          </a:p>
          <a:p xmlns:a="http://schemas.openxmlformats.org/drawingml/2006/main">
            <a:r>
              <a:t/>
            </a:r>
          </a:p>
          <a:p xmlns:a="http://schemas.openxmlformats.org/drawingml/2006/main">
            <a:pPr algn="l">
              <a:lnSpc>
                <a:spcPct val="118000"/>
              </a:lnSpc>
              <a:buNone/>
              <a:defRPr sz="1950" b="0">
                <a:solidFill>
                  <a:srgbClr val="B9BDC2"/>
                </a:solidFill>
                <a:latin typeface="Arial"/>
                <a:ea typeface="Arial"/>
                <a:cs typeface="Arial"/>
              </a:defRPr>
            </a:pPr>
            <a:r>
              <a:rPr sz="1950" b="0">
                <a:solidFill>
                  <a:srgbClr val="B9BDC2"/>
                </a:solidFill>
                <a:latin typeface="Arial"/>
                <a:ea typeface="Arial"/>
                <a:cs typeface="Arial"/>
              </a:rPr>
              <a:t>Detailed setup, architecture, AI limitations and security notes are linked in the repository README.</a:t>
            </a:r>
          </a:p>
        </p:txBody>
      </p:sp>
      <p:sp>
        <p:nvSpPr>
          <p:cNvPr id="4" name="page-number">
            <a:extLst xmlns:a="http://schemas.openxmlformats.org/drawingml/2006/main">
              <a:ext uri="{FF2B5EF4-FFF2-40B4-BE49-F238E27FC236}">
                <a16:creationId xmlns:a16="http://schemas.microsoft.com/office/drawing/2014/main" id="{6CFE8B7B-C7F2-4227-974C-E48BF3145FBD}"/>
              </a:ext>
            </a:extLst>
          </p:cNvPr>
          <p:cNvSpPr>
            <a:spLocks xmlns:a="http://schemas.openxmlformats.org/drawingml/2006/main" noGrp="1"/>
          </p:cNvSpPr>
          <p:nvPr/>
        </p:nvSpPr>
        <p:spPr>
          <a:xfrm xmlns:a="http://schemas.openxmlformats.org/drawingml/2006/main">
            <a:off x="10763250" y="645795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9C9FA4"/>
                </a:solidFill>
                <a:latin typeface="Arial"/>
                <a:ea typeface="Arial"/>
                <a:cs typeface="Arial"/>
              </a:defRPr>
            </a:defPPr>
            <a:lvl1pPr algn="l">
              <a:defRPr sz="1050" b="0">
                <a:solidFill>
                  <a:srgbClr val="9C9FA4"/>
                </a:solidFill>
                <a:latin typeface="Arial"/>
                <a:ea typeface="Arial"/>
                <a:cs typeface="Arial"/>
              </a:defRPr>
            </a:lvl1pPr>
            <a:lvl2pPr algn="l">
              <a:defRPr sz="1050" b="0">
                <a:solidFill>
                  <a:srgbClr val="9C9FA4"/>
                </a:solidFill>
                <a:latin typeface="Arial"/>
                <a:ea typeface="Arial"/>
                <a:cs typeface="Arial"/>
              </a:defRPr>
            </a:lvl2pPr>
            <a:lvl3pPr algn="l">
              <a:defRPr sz="1050" b="0">
                <a:solidFill>
                  <a:srgbClr val="9C9FA4"/>
                </a:solidFill>
                <a:latin typeface="Arial"/>
                <a:ea typeface="Arial"/>
                <a:cs typeface="Arial"/>
              </a:defRPr>
            </a:lvl3pPr>
            <a:lvl4pPr algn="l">
              <a:defRPr sz="1050" b="0">
                <a:solidFill>
                  <a:srgbClr val="9C9FA4"/>
                </a:solidFill>
                <a:latin typeface="Arial"/>
                <a:ea typeface="Arial"/>
                <a:cs typeface="Arial"/>
              </a:defRPr>
            </a:lvl4pPr>
            <a:lvl5pPr algn="l">
              <a:defRPr sz="1050" b="0">
                <a:solidFill>
                  <a:srgbClr val="9C9FA4"/>
                </a:solidFill>
                <a:latin typeface="Arial"/>
                <a:ea typeface="Arial"/>
                <a:cs typeface="Arial"/>
              </a:defRPr>
            </a:lvl5pPr>
            <a:lvl6pPr algn="l">
              <a:defRPr sz="1050" b="0">
                <a:solidFill>
                  <a:srgbClr val="9C9FA4"/>
                </a:solidFill>
                <a:latin typeface="Arial"/>
                <a:ea typeface="Arial"/>
                <a:cs typeface="Arial"/>
              </a:defRPr>
            </a:lvl6pPr>
            <a:lvl7pPr algn="l">
              <a:defRPr sz="1050" b="0">
                <a:solidFill>
                  <a:srgbClr val="9C9FA4"/>
                </a:solidFill>
                <a:latin typeface="Arial"/>
                <a:ea typeface="Arial"/>
                <a:cs typeface="Arial"/>
              </a:defRPr>
            </a:lvl7pPr>
            <a:lvl8pPr algn="l">
              <a:defRPr sz="1050" b="0">
                <a:solidFill>
                  <a:srgbClr val="9C9FA4"/>
                </a:solidFill>
                <a:latin typeface="Arial"/>
                <a:ea typeface="Arial"/>
                <a:cs typeface="Arial"/>
              </a:defRPr>
            </a:lvl8pPr>
            <a:lvl9pPr algn="l">
              <a:defRPr sz="1050" b="0">
                <a:solidFill>
                  <a:srgbClr val="9C9FA4"/>
                </a:solidFill>
                <a:latin typeface="Arial"/>
                <a:ea typeface="Arial"/>
                <a:cs typeface="Arial"/>
              </a:defRPr>
            </a:lvl9pPr>
          </a:lstStyle>
          <a:p xmlns:a="http://schemas.openxmlformats.org/drawingml/2006/main">
            <a:pPr algn="l">
              <a:lnSpc>
                <a:spcPct val="118000"/>
              </a:lnSpc>
              <a:buNone/>
              <a:defRPr sz="1050" b="0">
                <a:solidFill>
                  <a:srgbClr val="9C9FA4"/>
                </a:solidFill>
                <a:latin typeface="Arial"/>
                <a:ea typeface="Arial"/>
                <a:cs typeface="Arial"/>
              </a:defRPr>
            </a:pPr>
            <a:r>
              <a:rPr sz="1050" b="0">
                <a:solidFill>
                  <a:srgbClr val="9C9FA4"/>
                </a:solidFill>
                <a:latin typeface="Arial"/>
                <a:ea typeface="Arial"/>
                <a:cs typeface="Arial"/>
              </a:rPr>
              <a:t>25 / 25</a:t>
            </a:r>
          </a:p>
        </p:txBody>
      </p:sp>
    </p:spTree>
    <p:extLst>
      <p:ext uri="{BB962C8B-B14F-4D97-AF65-F5344CB8AC3E}">
        <p14:creationId xmlns:p14="http://schemas.microsoft.com/office/powerpoint/2010/main" val="14986283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2026-10-25T02:13:23.7280000Z</dcterms:created>
  <dcterms:modified xsi:type="dcterms:W3CDTF">2026-10-25T02:13:23.7280000Z</dcterms:modified>
</coreProperties>
</file>